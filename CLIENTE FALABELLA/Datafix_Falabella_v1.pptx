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8" d="100"/>
          <a:sy n="68" d="100"/>
        </p:scale>
        <p:origin x="592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146295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0" cy="6858000"/>
          </a:xfrm>
          <a:prstGeom prst="rect">
            <a:avLst/>
          </a:prstGeom>
          <a:solidFill>
            <a:srgbClr val="00A651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0" y="0"/>
            <a:ext cx="109728" cy="6858000"/>
          </a:xfrm>
          <a:prstGeom prst="rect">
            <a:avLst/>
          </a:prstGeom>
          <a:solidFill>
            <a:srgbClr val="006B33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50292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BANCO FALABELLA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960120"/>
            <a:ext cx="1097280" cy="0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4800600"/>
            <a:ext cx="3657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Propuesta</a:t>
            </a:r>
            <a:endParaRPr lang="en-US" sz="1400" dirty="0"/>
          </a:p>
          <a:p>
            <a:pPr marL="0" indent="0">
              <a:buNone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comercial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59893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EE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Mayo 2026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120640" y="1463040"/>
            <a:ext cx="6858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200" b="1" kern="0" spc="400" dirty="0">
                <a:solidFill>
                  <a:srgbClr val="1F2A3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DATAFIX</a:t>
            </a:r>
            <a:endParaRPr lang="en-US" sz="6200" dirty="0"/>
          </a:p>
        </p:txBody>
      </p:sp>
      <p:sp>
        <p:nvSpPr>
          <p:cNvPr id="9" name="Text 7"/>
          <p:cNvSpPr/>
          <p:nvPr/>
        </p:nvSpPr>
        <p:spPr>
          <a:xfrm>
            <a:off x="5120640" y="2331720"/>
            <a:ext cx="68580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800" b="1" kern="0" spc="600" dirty="0" smtClean="0">
                <a:solidFill>
                  <a:srgbClr val="00A65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Check</a:t>
            </a:r>
            <a:endParaRPr lang="en-US" sz="4800" dirty="0"/>
          </a:p>
        </p:txBody>
      </p:sp>
      <p:sp>
        <p:nvSpPr>
          <p:cNvPr id="10" name="Shape 8"/>
          <p:cNvSpPr/>
          <p:nvPr/>
        </p:nvSpPr>
        <p:spPr>
          <a:xfrm>
            <a:off x="5120640" y="3337560"/>
            <a:ext cx="1463040" cy="0"/>
          </a:xfrm>
          <a:prstGeom prst="line">
            <a:avLst/>
          </a:prstGeom>
          <a:noFill/>
          <a:ln w="38100">
            <a:solidFill>
              <a:srgbClr val="FDB91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120640" y="3520440"/>
            <a:ext cx="67665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i="1" dirty="0">
                <a:solidFill>
                  <a:srgbClr val="1F2A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Validar, auditar y simular scripts Oracle</a:t>
            </a:r>
            <a:endParaRPr lang="en-US" sz="2200" dirty="0"/>
          </a:p>
          <a:p>
            <a:pPr marL="0" indent="0">
              <a:buNone/>
            </a:pPr>
            <a:r>
              <a:rPr lang="en-US" sz="2200" i="1" dirty="0">
                <a:solidFill>
                  <a:srgbClr val="1F2A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antes de tocar producción.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5120640" y="5029200"/>
            <a:ext cx="2103120" cy="1280160"/>
          </a:xfrm>
          <a:prstGeom prst="rect">
            <a:avLst/>
          </a:prstGeom>
          <a:solidFill>
            <a:srgbClr val="F4F6F8"/>
          </a:solidFill>
          <a:ln w="9525">
            <a:solidFill>
              <a:srgbClr val="E2E6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120640" y="5074920"/>
            <a:ext cx="2103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00A65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-80%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5120640" y="58978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impacto en falla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406640" y="5029200"/>
            <a:ext cx="2103120" cy="1280160"/>
          </a:xfrm>
          <a:prstGeom prst="rect">
            <a:avLst/>
          </a:prstGeom>
          <a:solidFill>
            <a:srgbClr val="F4F6F8"/>
          </a:solidFill>
          <a:ln w="9525">
            <a:solidFill>
              <a:srgbClr val="E2E6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406640" y="5074920"/>
            <a:ext cx="2103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00A65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-90%</a:t>
            </a:r>
            <a:endParaRPr lang="en-US" sz="3400" dirty="0"/>
          </a:p>
        </p:txBody>
      </p:sp>
      <p:sp>
        <p:nvSpPr>
          <p:cNvPr id="17" name="Text 15"/>
          <p:cNvSpPr/>
          <p:nvPr/>
        </p:nvSpPr>
        <p:spPr>
          <a:xfrm>
            <a:off x="7406640" y="58978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issues por script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9692640" y="5029200"/>
            <a:ext cx="2103120" cy="1280160"/>
          </a:xfrm>
          <a:prstGeom prst="rect">
            <a:avLst/>
          </a:prstGeom>
          <a:solidFill>
            <a:srgbClr val="F4F6F8"/>
          </a:solidFill>
          <a:ln w="9525">
            <a:solidFill>
              <a:srgbClr val="E2E6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692640" y="5074920"/>
            <a:ext cx="2103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00A65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+60%</a:t>
            </a:r>
            <a:endParaRPr lang="en-US" sz="3400" dirty="0"/>
          </a:p>
        </p:txBody>
      </p:sp>
      <p:sp>
        <p:nvSpPr>
          <p:cNvPr id="20" name="Text 18"/>
          <p:cNvSpPr/>
          <p:nvPr/>
        </p:nvSpPr>
        <p:spPr>
          <a:xfrm>
            <a:off x="9692640" y="58978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velocidad de despliegue</a:t>
            </a:r>
            <a:endParaRPr lang="en-US" sz="11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92608" cy="6858000"/>
          </a:xfrm>
          <a:prstGeom prst="rect">
            <a:avLst/>
          </a:prstGeom>
          <a:solidFill>
            <a:srgbClr val="00A651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600" dirty="0">
                <a:solidFill>
                  <a:srgbClr val="00A6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 BANCO FALABELLA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530352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2A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Cada datafix Oracle es un riesgo de minutos en producción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298448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Hoy el ciclo "solicitud &gt; revisión &gt; ejecución &gt; rollback" depende de validaciones manuales.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1783080"/>
            <a:ext cx="1280160" cy="0"/>
          </a:xfrm>
          <a:prstGeom prst="line">
            <a:avLst/>
          </a:prstGeom>
          <a:noFill/>
          <a:ln w="31750">
            <a:solidFill>
              <a:srgbClr val="00A65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2194560"/>
            <a:ext cx="365760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6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2194560"/>
            <a:ext cx="3657600" cy="164592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2560320"/>
            <a:ext cx="9144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200" b="1" dirty="0">
                <a:solidFill>
                  <a:srgbClr val="FCE5E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7200" dirty="0"/>
          </a:p>
        </p:txBody>
      </p:sp>
      <p:sp>
        <p:nvSpPr>
          <p:cNvPr id="10" name="Text 8"/>
          <p:cNvSpPr/>
          <p:nvPr/>
        </p:nvSpPr>
        <p:spPr>
          <a:xfrm>
            <a:off x="914400" y="269748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2A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Volumen creciente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914400" y="3246120"/>
            <a:ext cx="548640" cy="0"/>
          </a:xfrm>
          <a:prstGeom prst="line">
            <a:avLst/>
          </a:prstGeom>
          <a:noFill/>
          <a:ln w="25400">
            <a:solidFill>
              <a:srgbClr val="C8102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3429000"/>
            <a:ext cx="310896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600"/>
              </a:spcAft>
              <a:buNone/>
            </a:pPr>
            <a:r>
              <a:rPr lang="en-US" sz="13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Decenas de scripts/mes entre Tarjetas, Riesgo, Captación y Cobranza. La cola del DBA crece.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4526280" y="2194560"/>
            <a:ext cx="365760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6E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26280" y="2194560"/>
            <a:ext cx="3657600" cy="164592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15" name="Text 13"/>
          <p:cNvSpPr/>
          <p:nvPr/>
        </p:nvSpPr>
        <p:spPr>
          <a:xfrm>
            <a:off x="4754880" y="2560320"/>
            <a:ext cx="9144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200" b="1" dirty="0">
                <a:solidFill>
                  <a:srgbClr val="FCE5E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7200" dirty="0"/>
          </a:p>
        </p:txBody>
      </p:sp>
      <p:sp>
        <p:nvSpPr>
          <p:cNvPr id="16" name="Text 14"/>
          <p:cNvSpPr/>
          <p:nvPr/>
        </p:nvSpPr>
        <p:spPr>
          <a:xfrm>
            <a:off x="4800600" y="269748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2A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Validación manual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4800600" y="3246120"/>
            <a:ext cx="548640" cy="0"/>
          </a:xfrm>
          <a:prstGeom prst="line">
            <a:avLst/>
          </a:prstGeom>
          <a:noFill/>
          <a:ln w="25400">
            <a:solidFill>
              <a:srgbClr val="C8102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00600" y="3429000"/>
            <a:ext cx="310896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600"/>
              </a:spcAft>
              <a:buNone/>
            </a:pPr>
            <a:r>
              <a:rPr lang="en-US" sz="13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Sintaxis, reglas Oracle y simulación dependen de la experiencia del revisor de turno.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8412480" y="2194560"/>
            <a:ext cx="365760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6E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412480" y="2194560"/>
            <a:ext cx="3657600" cy="164592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21" name="Text 19"/>
          <p:cNvSpPr/>
          <p:nvPr/>
        </p:nvSpPr>
        <p:spPr>
          <a:xfrm>
            <a:off x="8641080" y="2560320"/>
            <a:ext cx="9144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200" b="1" dirty="0">
                <a:solidFill>
                  <a:srgbClr val="FCE5E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7200" dirty="0"/>
          </a:p>
        </p:txBody>
      </p:sp>
      <p:sp>
        <p:nvSpPr>
          <p:cNvPr id="22" name="Text 20"/>
          <p:cNvSpPr/>
          <p:nvPr/>
        </p:nvSpPr>
        <p:spPr>
          <a:xfrm>
            <a:off x="8686800" y="269748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2A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Costo del error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8686800" y="3246120"/>
            <a:ext cx="548640" cy="0"/>
          </a:xfrm>
          <a:prstGeom prst="line">
            <a:avLst/>
          </a:prstGeom>
          <a:noFill/>
          <a:ln w="25400">
            <a:solidFill>
              <a:srgbClr val="C8102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686800" y="3429000"/>
            <a:ext cx="310896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600"/>
              </a:spcAft>
              <a:buNone/>
            </a:pPr>
            <a:r>
              <a:rPr lang="en-US" sz="13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UPDATE sin WHERE o un TRUNCATE mal aprobado se convierte en incidente regulatorio.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640080" y="6263640"/>
            <a:ext cx="10881360" cy="292608"/>
          </a:xfrm>
          <a:prstGeom prst="rect">
            <a:avLst/>
          </a:prstGeom>
          <a:solidFill>
            <a:srgbClr val="D7EFDF"/>
          </a:solidFill>
          <a:ln/>
        </p:spPr>
      </p:sp>
      <p:sp>
        <p:nvSpPr>
          <p:cNvPr id="26" name="Text 24"/>
          <p:cNvSpPr/>
          <p:nvPr/>
        </p:nvSpPr>
        <p:spPr>
          <a:xfrm>
            <a:off x="777240" y="6263640"/>
            <a:ext cx="10698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006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hora del DBA en revisar sintaxis es una hora perdida en proyectos de negocio.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502920" y="6565392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Datafix Automatico  ·  Propuesta Banco Falabella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1094415" y="6565392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16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92608" cy="6858000"/>
          </a:xfrm>
          <a:prstGeom prst="rect">
            <a:avLst/>
          </a:prstGeom>
          <a:solidFill>
            <a:srgbClr val="00A651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600" dirty="0">
                <a:solidFill>
                  <a:srgbClr val="00A6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SE HACE HOY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530352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2A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Proceso actual de Datafix Oracle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298448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Tres equipos, validación manual, ciclo de 24 a 72 horas por script.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1783080"/>
            <a:ext cx="1280160" cy="0"/>
          </a:xfrm>
          <a:prstGeom prst="line">
            <a:avLst/>
          </a:prstGeom>
          <a:noFill/>
          <a:ln w="31750">
            <a:solidFill>
              <a:srgbClr val="00A65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2194560"/>
            <a:ext cx="3657600" cy="3794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6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2194560"/>
            <a:ext cx="3657600" cy="777240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228600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Desarrollo Team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68680" y="2633472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E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Solicita el datafix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914400" y="3108960"/>
            <a:ext cx="310896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Solicitud de revisión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Correo con archivos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 adjunto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914400" y="5074920"/>
            <a:ext cx="3108960" cy="640080"/>
          </a:xfrm>
          <a:prstGeom prst="roundRect">
            <a:avLst>
              <a:gd name="adj" fmla="val 11429"/>
            </a:avLst>
          </a:prstGeom>
          <a:solidFill>
            <a:srgbClr val="E8F0F8"/>
          </a:solidFill>
          <a:ln/>
        </p:spPr>
      </p:sp>
      <p:sp>
        <p:nvSpPr>
          <p:cNvPr id="13" name="Text 11"/>
          <p:cNvSpPr/>
          <p:nvPr/>
        </p:nvSpPr>
        <p:spPr>
          <a:xfrm>
            <a:off x="1051560" y="512064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Tiempo etapa: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1051560" y="539496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4E7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2 - 4 h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4526280" y="2194560"/>
            <a:ext cx="3657600" cy="3794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6E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26280" y="2194560"/>
            <a:ext cx="3657600" cy="777240"/>
          </a:xfrm>
          <a:prstGeom prst="rect">
            <a:avLst/>
          </a:prstGeom>
          <a:solidFill>
            <a:srgbClr val="00A651"/>
          </a:solidFill>
          <a:ln/>
        </p:spPr>
      </p:sp>
      <p:sp>
        <p:nvSpPr>
          <p:cNvPr id="17" name="Text 15"/>
          <p:cNvSpPr/>
          <p:nvPr/>
        </p:nvSpPr>
        <p:spPr>
          <a:xfrm>
            <a:off x="4754880" y="228600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Equipo Base de Datos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754880" y="2633472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E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 el datafix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4800600" y="3108960"/>
            <a:ext cx="310896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Chequeo manual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Revisión por experto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Validación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Planificación / asignación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800600" y="5074920"/>
            <a:ext cx="3108960" cy="640080"/>
          </a:xfrm>
          <a:prstGeom prst="roundRect">
            <a:avLst>
              <a:gd name="adj" fmla="val 11429"/>
            </a:avLst>
          </a:prstGeom>
          <a:solidFill>
            <a:srgbClr val="D7EFDF"/>
          </a:solidFill>
          <a:ln/>
        </p:spPr>
      </p:sp>
      <p:sp>
        <p:nvSpPr>
          <p:cNvPr id="21" name="Text 19"/>
          <p:cNvSpPr/>
          <p:nvPr/>
        </p:nvSpPr>
        <p:spPr>
          <a:xfrm>
            <a:off x="4937760" y="512064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Tiempo etapa: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937760" y="539496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A65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8 - 24 h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8412480" y="2194560"/>
            <a:ext cx="3657600" cy="3794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6E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412480" y="2194560"/>
            <a:ext cx="3657600" cy="777240"/>
          </a:xfrm>
          <a:prstGeom prst="rect">
            <a:avLst/>
          </a:prstGeom>
          <a:solidFill>
            <a:srgbClr val="7B5C00"/>
          </a:solidFill>
          <a:ln/>
        </p:spPr>
      </p:sp>
      <p:sp>
        <p:nvSpPr>
          <p:cNvPr id="25" name="Text 23"/>
          <p:cNvSpPr/>
          <p:nvPr/>
        </p:nvSpPr>
        <p:spPr>
          <a:xfrm>
            <a:off x="8641080" y="228600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Ejecutador / Implementador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8641080" y="2633472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E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Revisión o rollback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8686800" y="3108960"/>
            <a:ext cx="310896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Validar en línea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Ejecución con DEV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si hay falla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Rollback si falla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8686800" y="5074920"/>
            <a:ext cx="3108960" cy="640080"/>
          </a:xfrm>
          <a:prstGeom prst="roundRect">
            <a:avLst>
              <a:gd name="adj" fmla="val 11429"/>
            </a:avLst>
          </a:prstGeom>
          <a:solidFill>
            <a:srgbClr val="FFF6D9"/>
          </a:solidFill>
          <a:ln/>
        </p:spPr>
      </p:sp>
      <p:sp>
        <p:nvSpPr>
          <p:cNvPr id="29" name="Text 27"/>
          <p:cNvSpPr/>
          <p:nvPr/>
        </p:nvSpPr>
        <p:spPr>
          <a:xfrm>
            <a:off x="8823960" y="512064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Tiempo etapa: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8823960" y="539496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7B5C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4 - 12 h</a:t>
            </a:r>
            <a:endParaRPr lang="en-US" sz="1800" dirty="0"/>
          </a:p>
        </p:txBody>
      </p:sp>
      <p:sp>
        <p:nvSpPr>
          <p:cNvPr id="31" name="Shape 29"/>
          <p:cNvSpPr/>
          <p:nvPr/>
        </p:nvSpPr>
        <p:spPr>
          <a:xfrm>
            <a:off x="640080" y="6053328"/>
            <a:ext cx="10881360" cy="41148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32" name="Text 30"/>
          <p:cNvSpPr/>
          <p:nvPr/>
        </p:nvSpPr>
        <p:spPr>
          <a:xfrm>
            <a:off x="640080" y="6053328"/>
            <a:ext cx="10881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TOTAL CICLO HOY:  14 - 40 horas por datafix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502920" y="6565392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Datafix Automatico  ·  Propuesta Banco Falabella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1094415" y="6565392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16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92608" cy="6858000"/>
          </a:xfrm>
          <a:prstGeom prst="rect">
            <a:avLst/>
          </a:prstGeom>
          <a:solidFill>
            <a:srgbClr val="00A651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600" dirty="0">
                <a:solidFill>
                  <a:srgbClr val="00A6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SE HARIA CON LA HERRAMIENTA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530352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2A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Proceso agilizado con MyCheck (Datafix Automatico)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298448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validación se ejecuta de forma automática antes de llegar al DBA.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1783080"/>
            <a:ext cx="1280160" cy="0"/>
          </a:xfrm>
          <a:prstGeom prst="line">
            <a:avLst/>
          </a:prstGeom>
          <a:noFill/>
          <a:ln w="31750">
            <a:solidFill>
              <a:srgbClr val="00A65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2194560"/>
            <a:ext cx="3657600" cy="3794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6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2194560"/>
            <a:ext cx="3657600" cy="777240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228600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Desarrollo Team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68680" y="2633472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E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Solicita + autoChequea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914400" y="3108960"/>
            <a:ext cx="310896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Sube el script en App MyCheck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Sintaxis, reglas y emulación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y reporte adjunto al ticket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914400" y="5074920"/>
            <a:ext cx="3108960" cy="640080"/>
          </a:xfrm>
          <a:prstGeom prst="roundRect">
            <a:avLst>
              <a:gd name="adj" fmla="val 11429"/>
            </a:avLst>
          </a:prstGeom>
          <a:solidFill>
            <a:srgbClr val="E8F0F8"/>
          </a:solidFill>
          <a:ln/>
        </p:spPr>
      </p:sp>
      <p:sp>
        <p:nvSpPr>
          <p:cNvPr id="13" name="Text 11"/>
          <p:cNvSpPr/>
          <p:nvPr/>
        </p:nvSpPr>
        <p:spPr>
          <a:xfrm>
            <a:off x="1051560" y="512064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Tiempo etapa: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1051560" y="539496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4E7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30 min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4526280" y="2194560"/>
            <a:ext cx="3657600" cy="3794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6E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26280" y="2194560"/>
            <a:ext cx="3657600" cy="777240"/>
          </a:xfrm>
          <a:prstGeom prst="rect">
            <a:avLst/>
          </a:prstGeom>
          <a:solidFill>
            <a:srgbClr val="00A651"/>
          </a:solidFill>
          <a:ln/>
        </p:spPr>
      </p:sp>
      <p:sp>
        <p:nvSpPr>
          <p:cNvPr id="17" name="Text 15"/>
          <p:cNvSpPr/>
          <p:nvPr/>
        </p:nvSpPr>
        <p:spPr>
          <a:xfrm>
            <a:off x="4754880" y="228600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Equipo Base de Datos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754880" y="2633472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E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Revisa con reporte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4800600" y="3108960"/>
            <a:ext cx="310896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Recibe reporte de Score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enfoca casos con alertas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Planificación / asignación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800600" y="5074920"/>
            <a:ext cx="3108960" cy="640080"/>
          </a:xfrm>
          <a:prstGeom prst="roundRect">
            <a:avLst>
              <a:gd name="adj" fmla="val 11429"/>
            </a:avLst>
          </a:prstGeom>
          <a:solidFill>
            <a:srgbClr val="D7EFDF"/>
          </a:solidFill>
          <a:ln/>
        </p:spPr>
      </p:sp>
      <p:sp>
        <p:nvSpPr>
          <p:cNvPr id="21" name="Text 19"/>
          <p:cNvSpPr/>
          <p:nvPr/>
        </p:nvSpPr>
        <p:spPr>
          <a:xfrm>
            <a:off x="4937760" y="512064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Tiempo etapa: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937760" y="539496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A65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2 - 4 h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8412480" y="2194560"/>
            <a:ext cx="3657600" cy="3794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6E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412480" y="2194560"/>
            <a:ext cx="3657600" cy="777240"/>
          </a:xfrm>
          <a:prstGeom prst="rect">
            <a:avLst/>
          </a:prstGeom>
          <a:solidFill>
            <a:srgbClr val="7B5C00"/>
          </a:solidFill>
          <a:ln/>
        </p:spPr>
      </p:sp>
      <p:sp>
        <p:nvSpPr>
          <p:cNvPr id="25" name="Text 23"/>
          <p:cNvSpPr/>
          <p:nvPr/>
        </p:nvSpPr>
        <p:spPr>
          <a:xfrm>
            <a:off x="8641080" y="228600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Ejecutador / Implementador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8641080" y="2633472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E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Ejecuta con confianza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8686800" y="3108960"/>
            <a:ext cx="310896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DRY RUN ya validado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Ejecución con DEV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Impacto en falla 80% menor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Issues por script 90% menor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8686800" y="5074920"/>
            <a:ext cx="3108960" cy="640080"/>
          </a:xfrm>
          <a:prstGeom prst="roundRect">
            <a:avLst>
              <a:gd name="adj" fmla="val 11429"/>
            </a:avLst>
          </a:prstGeom>
          <a:solidFill>
            <a:srgbClr val="FFF6D9"/>
          </a:solidFill>
          <a:ln/>
        </p:spPr>
      </p:sp>
      <p:sp>
        <p:nvSpPr>
          <p:cNvPr id="29" name="Text 27"/>
          <p:cNvSpPr/>
          <p:nvPr/>
        </p:nvSpPr>
        <p:spPr>
          <a:xfrm>
            <a:off x="8823960" y="512064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Tiempo etapa: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8823960" y="539496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7B5C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1 - 3 h</a:t>
            </a:r>
            <a:endParaRPr lang="en-US" sz="1800" dirty="0"/>
          </a:p>
        </p:txBody>
      </p:sp>
      <p:sp>
        <p:nvSpPr>
          <p:cNvPr id="31" name="Shape 29"/>
          <p:cNvSpPr/>
          <p:nvPr/>
        </p:nvSpPr>
        <p:spPr>
          <a:xfrm>
            <a:off x="640080" y="6053328"/>
            <a:ext cx="10881360" cy="411480"/>
          </a:xfrm>
          <a:prstGeom prst="rect">
            <a:avLst/>
          </a:prstGeom>
          <a:solidFill>
            <a:srgbClr val="00A651"/>
          </a:solidFill>
          <a:ln/>
        </p:spPr>
      </p:sp>
      <p:sp>
        <p:nvSpPr>
          <p:cNvPr id="32" name="Text 30"/>
          <p:cNvSpPr/>
          <p:nvPr/>
        </p:nvSpPr>
        <p:spPr>
          <a:xfrm>
            <a:off x="640080" y="6053328"/>
            <a:ext cx="10881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TOTAL CICLO CON MYCHECK:  3.5 - 7.5 horas por datafix   (-75%)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502920" y="6565392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Datafix Automatico  ·  Propuesta Banco Falabella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1094415" y="6565392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16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92608" cy="6858000"/>
          </a:xfrm>
          <a:prstGeom prst="rect">
            <a:avLst/>
          </a:prstGeom>
          <a:solidFill>
            <a:srgbClr val="00A651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600" dirty="0">
                <a:solidFill>
                  <a:srgbClr val="00A6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AHORRO EN UNA SOLA LAMINA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530352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2A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Comparativo etapa por etapa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298448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Tiempos reales por script estándar (UPDATE / DELETE masivos en tablas core).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1783080"/>
            <a:ext cx="1280160" cy="0"/>
          </a:xfrm>
          <a:prstGeom prst="line">
            <a:avLst/>
          </a:prstGeom>
          <a:noFill/>
          <a:ln w="31750">
            <a:solidFill>
              <a:srgbClr val="00A65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2194560"/>
            <a:ext cx="10881360" cy="502920"/>
          </a:xfrm>
          <a:prstGeom prst="rect">
            <a:avLst/>
          </a:prstGeom>
          <a:solidFill>
            <a:srgbClr val="006B33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219456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Etapa del proceso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160520" y="219456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Tiempo HOY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537960" y="219456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Tiempo MyCheck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915400" y="219456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Ahorro %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" y="2697480"/>
            <a:ext cx="1088136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6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269748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Solicitud y armado del paquete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4160520" y="269748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2 - 4 h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537960" y="269748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min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8915400" y="269748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0A6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-75%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40080" y="3200400"/>
            <a:ext cx="10881360" cy="502920"/>
          </a:xfrm>
          <a:prstGeom prst="rect">
            <a:avLst/>
          </a:prstGeom>
          <a:solidFill>
            <a:srgbClr val="F4F6F8"/>
          </a:solidFill>
          <a:ln w="6350">
            <a:solidFill>
              <a:srgbClr val="E2E6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" y="320040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Chequeo de sintaxis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4160520" y="320040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1 - 2 h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6537960" y="320040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1 min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915400" y="320040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0A6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-99%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40080" y="3703320"/>
            <a:ext cx="1088136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6E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77240" y="370332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Auditoria de reglas Oracle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4160520" y="370332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1 - 3 h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6537960" y="370332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1 min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8915400" y="370332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0A6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-99%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640080" y="4206240"/>
            <a:ext cx="10881360" cy="502920"/>
          </a:xfrm>
          <a:prstGeom prst="rect">
            <a:avLst/>
          </a:prstGeom>
          <a:solidFill>
            <a:srgbClr val="F4F6F8"/>
          </a:solidFill>
          <a:ln w="6350">
            <a:solidFill>
              <a:srgbClr val="E2E6E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77240" y="420624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Simulación / DRY RUN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4160520" y="420624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2 - 6 h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6537960" y="420624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2 - 5 min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8915400" y="420624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0A6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-95%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640080" y="4709160"/>
            <a:ext cx="1088136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6E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77240" y="470916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Revisión y aprobación DBA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4160520" y="470916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4 - 12 h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6537960" y="470916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1 - 2 h</a:t>
            </a:r>
            <a:endParaRPr lang="en-US" sz="1250" dirty="0"/>
          </a:p>
        </p:txBody>
      </p:sp>
      <p:sp>
        <p:nvSpPr>
          <p:cNvPr id="36" name="Text 34"/>
          <p:cNvSpPr/>
          <p:nvPr/>
        </p:nvSpPr>
        <p:spPr>
          <a:xfrm>
            <a:off x="8915400" y="470916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0A6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-80%</a:t>
            </a:r>
            <a:endParaRPr lang="en-US" sz="1250" dirty="0"/>
          </a:p>
        </p:txBody>
      </p:sp>
      <p:sp>
        <p:nvSpPr>
          <p:cNvPr id="37" name="Shape 35"/>
          <p:cNvSpPr/>
          <p:nvPr/>
        </p:nvSpPr>
        <p:spPr>
          <a:xfrm>
            <a:off x="640080" y="5212080"/>
            <a:ext cx="10881360" cy="502920"/>
          </a:xfrm>
          <a:prstGeom prst="rect">
            <a:avLst/>
          </a:prstGeom>
          <a:solidFill>
            <a:srgbClr val="F4F6F8"/>
          </a:solidFill>
          <a:ln w="6350">
            <a:solidFill>
              <a:srgbClr val="E2E6E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77240" y="521208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Ejecución y rollback (si aplica)</a:t>
            </a:r>
            <a:endParaRPr lang="en-US" sz="1250" dirty="0"/>
          </a:p>
        </p:txBody>
      </p:sp>
      <p:sp>
        <p:nvSpPr>
          <p:cNvPr id="39" name="Text 37"/>
          <p:cNvSpPr/>
          <p:nvPr/>
        </p:nvSpPr>
        <p:spPr>
          <a:xfrm>
            <a:off x="4160520" y="521208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4 - 12 h</a:t>
            </a:r>
            <a:endParaRPr lang="en-US" sz="1250" dirty="0"/>
          </a:p>
        </p:txBody>
      </p:sp>
      <p:sp>
        <p:nvSpPr>
          <p:cNvPr id="40" name="Text 38"/>
          <p:cNvSpPr/>
          <p:nvPr/>
        </p:nvSpPr>
        <p:spPr>
          <a:xfrm>
            <a:off x="6537960" y="521208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1 - 3 h</a:t>
            </a:r>
            <a:endParaRPr lang="en-US" sz="1250" dirty="0"/>
          </a:p>
        </p:txBody>
      </p:sp>
      <p:sp>
        <p:nvSpPr>
          <p:cNvPr id="41" name="Text 39"/>
          <p:cNvSpPr/>
          <p:nvPr/>
        </p:nvSpPr>
        <p:spPr>
          <a:xfrm>
            <a:off x="8915400" y="521208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0A6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-70%</a:t>
            </a:r>
            <a:endParaRPr lang="en-US" sz="1250" dirty="0"/>
          </a:p>
        </p:txBody>
      </p:sp>
      <p:sp>
        <p:nvSpPr>
          <p:cNvPr id="42" name="Shape 40"/>
          <p:cNvSpPr/>
          <p:nvPr/>
        </p:nvSpPr>
        <p:spPr>
          <a:xfrm>
            <a:off x="640080" y="5715000"/>
            <a:ext cx="10881360" cy="548640"/>
          </a:xfrm>
          <a:prstGeom prst="rect">
            <a:avLst/>
          </a:prstGeom>
          <a:solidFill>
            <a:srgbClr val="00A651"/>
          </a:solidFill>
          <a:ln/>
        </p:spPr>
      </p:sp>
      <p:sp>
        <p:nvSpPr>
          <p:cNvPr id="43" name="Text 41"/>
          <p:cNvSpPr/>
          <p:nvPr/>
        </p:nvSpPr>
        <p:spPr>
          <a:xfrm>
            <a:off x="777240" y="571500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TOTAL CICLO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4160520" y="571500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14 - 40 h</a:t>
            </a:r>
            <a:endParaRPr lang="en-US" sz="1400" dirty="0"/>
          </a:p>
        </p:txBody>
      </p:sp>
      <p:sp>
        <p:nvSpPr>
          <p:cNvPr id="45" name="Text 43"/>
          <p:cNvSpPr/>
          <p:nvPr/>
        </p:nvSpPr>
        <p:spPr>
          <a:xfrm>
            <a:off x="6537960" y="571500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3.5 - 7.5 h</a:t>
            </a:r>
            <a:endParaRPr lang="en-US" sz="1400" dirty="0"/>
          </a:p>
        </p:txBody>
      </p:sp>
      <p:sp>
        <p:nvSpPr>
          <p:cNvPr id="46" name="Text 44"/>
          <p:cNvSpPr/>
          <p:nvPr/>
        </p:nvSpPr>
        <p:spPr>
          <a:xfrm>
            <a:off x="8915400" y="571500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-75% promedio</a:t>
            </a:r>
            <a:endParaRPr lang="en-US" sz="1400" dirty="0"/>
          </a:p>
        </p:txBody>
      </p:sp>
      <p:sp>
        <p:nvSpPr>
          <p:cNvPr id="47" name="Text 45"/>
          <p:cNvSpPr/>
          <p:nvPr/>
        </p:nvSpPr>
        <p:spPr>
          <a:xfrm>
            <a:off x="502920" y="6565392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Datafix Automatico  ·  Propuesta Banco Falabella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11094415" y="6565392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16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92608" cy="6858000"/>
          </a:xfrm>
          <a:prstGeom prst="rect">
            <a:avLst/>
          </a:prstGeom>
          <a:solidFill>
            <a:srgbClr val="00A651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600" dirty="0">
                <a:solidFill>
                  <a:srgbClr val="00A6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HERRAMIENTA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530352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2A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MyCheck en 4 capacidades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298448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sola web que reemplaza el "checklist de revisión" del DBA por reglas codificadas.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1783080"/>
            <a:ext cx="1280160" cy="0"/>
          </a:xfrm>
          <a:prstGeom prst="line">
            <a:avLst/>
          </a:prstGeom>
          <a:noFill/>
          <a:ln w="31750">
            <a:solidFill>
              <a:srgbClr val="00A65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2194560"/>
            <a:ext cx="548640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6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2194560"/>
            <a:ext cx="164592" cy="1965960"/>
          </a:xfrm>
          <a:prstGeom prst="rect">
            <a:avLst/>
          </a:prstGeom>
          <a:solidFill>
            <a:srgbClr val="00A651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233172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A65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920240" y="2359152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F2A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Validador de sintaxis SQL/PLSQL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1920240" y="2834640"/>
            <a:ext cx="4023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Detecta errores antes de pasar al DBA. Resaltado de línea, sugerencias de corrección, soporte a paquetes y bloques anónimos.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355080" y="2194560"/>
            <a:ext cx="548640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6E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355080" y="2194560"/>
            <a:ext cx="164592" cy="1965960"/>
          </a:xfrm>
          <a:prstGeom prst="rect">
            <a:avLst/>
          </a:prstGeom>
          <a:solidFill>
            <a:srgbClr val="00A651"/>
          </a:solidFill>
          <a:ln/>
        </p:spPr>
      </p:sp>
      <p:sp>
        <p:nvSpPr>
          <p:cNvPr id="14" name="Text 12"/>
          <p:cNvSpPr/>
          <p:nvPr/>
        </p:nvSpPr>
        <p:spPr>
          <a:xfrm>
            <a:off x="6629400" y="233172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A65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7635240" y="2359152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F2A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Auditor de reglas Oracle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7635240" y="2834640"/>
            <a:ext cx="4023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25+ reglas críticas: UPDATE/DELETE sin WHERE, TRUNCATE, DROP, GRANT, locks de tabla. Severidad CRITICO / ALTO / MEDIO.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40080" y="4389120"/>
            <a:ext cx="548640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6E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40080" y="4389120"/>
            <a:ext cx="164592" cy="1965960"/>
          </a:xfrm>
          <a:prstGeom prst="rect">
            <a:avLst/>
          </a:prstGeom>
          <a:solidFill>
            <a:srgbClr val="00A651"/>
          </a:solidFill>
          <a:ln/>
        </p:spPr>
      </p:sp>
      <p:sp>
        <p:nvSpPr>
          <p:cNvPr id="19" name="Text 17"/>
          <p:cNvSpPr/>
          <p:nvPr/>
        </p:nvSpPr>
        <p:spPr>
          <a:xfrm>
            <a:off x="914400" y="452628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A65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1920240" y="4553712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F2A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DRY RUN (motor Liquibase)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1920240" y="5029200"/>
            <a:ext cx="4023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Ejecuta el script en sesión real con SAVEPOINT + ROLLBACK automático. Reporta filas afectadas sin tocar producción.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355080" y="4389120"/>
            <a:ext cx="548640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6E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355080" y="4389120"/>
            <a:ext cx="164592" cy="1965960"/>
          </a:xfrm>
          <a:prstGeom prst="rect">
            <a:avLst/>
          </a:prstGeom>
          <a:solidFill>
            <a:srgbClr val="00A651"/>
          </a:solidFill>
          <a:ln/>
        </p:spPr>
      </p:sp>
      <p:sp>
        <p:nvSpPr>
          <p:cNvPr id="24" name="Text 22"/>
          <p:cNvSpPr/>
          <p:nvPr/>
        </p:nvSpPr>
        <p:spPr>
          <a:xfrm>
            <a:off x="6629400" y="452628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A65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7635240" y="4553712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F2A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Reporte de Score (max 100)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7635240" y="5029200"/>
            <a:ext cx="4023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Puntaje del script: 100 - 25*CRITICO - 10*ALTO - 3*MEDIO. Exportable a PDF para anexar al ticket.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02920" y="6565392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Datafix Automatico  ·  Propuesta Banco Falabella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1094415" y="6565392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16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92608" cy="6858000"/>
          </a:xfrm>
          <a:prstGeom prst="rect">
            <a:avLst/>
          </a:prstGeom>
          <a:solidFill>
            <a:srgbClr val="00A651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600" dirty="0">
                <a:solidFill>
                  <a:srgbClr val="00A6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VISTA 1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530352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2A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Validador de sintaxis SQL / PLSQL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298448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Errores de sintaxis detectados al instante, sin depender del DBA.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1783080"/>
            <a:ext cx="1280160" cy="0"/>
          </a:xfrm>
          <a:prstGeom prst="line">
            <a:avLst/>
          </a:prstGeom>
          <a:noFill/>
          <a:ln w="31750">
            <a:solidFill>
              <a:srgbClr val="00A65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2194560"/>
            <a:ext cx="10972800" cy="4160520"/>
          </a:xfrm>
          <a:prstGeom prst="rect">
            <a:avLst/>
          </a:prstGeom>
          <a:solidFill>
            <a:srgbClr val="1A2433"/>
          </a:solidFill>
          <a:ln/>
        </p:spPr>
      </p:sp>
      <p:sp>
        <p:nvSpPr>
          <p:cNvPr id="8" name="Shape 6"/>
          <p:cNvSpPr/>
          <p:nvPr/>
        </p:nvSpPr>
        <p:spPr>
          <a:xfrm>
            <a:off x="640080" y="2194560"/>
            <a:ext cx="10972800" cy="384048"/>
          </a:xfrm>
          <a:prstGeom prst="rect">
            <a:avLst/>
          </a:prstGeom>
          <a:solidFill>
            <a:srgbClr val="232E3F"/>
          </a:solidFill>
          <a:ln/>
        </p:spPr>
      </p:sp>
      <p:sp>
        <p:nvSpPr>
          <p:cNvPr id="9" name="Shape 7"/>
          <p:cNvSpPr/>
          <p:nvPr/>
        </p:nvSpPr>
        <p:spPr>
          <a:xfrm>
            <a:off x="804672" y="2313432"/>
            <a:ext cx="146304" cy="146304"/>
          </a:xfrm>
          <a:prstGeom prst="ellipse">
            <a:avLst/>
          </a:prstGeom>
          <a:solidFill>
            <a:srgbClr val="F0635A"/>
          </a:solidFill>
          <a:ln/>
        </p:spPr>
      </p:sp>
      <p:sp>
        <p:nvSpPr>
          <p:cNvPr id="10" name="Shape 8"/>
          <p:cNvSpPr/>
          <p:nvPr/>
        </p:nvSpPr>
        <p:spPr>
          <a:xfrm>
            <a:off x="1060704" y="2313432"/>
            <a:ext cx="146304" cy="146304"/>
          </a:xfrm>
          <a:prstGeom prst="ellipse">
            <a:avLst/>
          </a:prstGeom>
          <a:solidFill>
            <a:srgbClr val="FBC450"/>
          </a:solidFill>
          <a:ln/>
        </p:spPr>
      </p:sp>
      <p:sp>
        <p:nvSpPr>
          <p:cNvPr id="11" name="Shape 9"/>
          <p:cNvSpPr/>
          <p:nvPr/>
        </p:nvSpPr>
        <p:spPr>
          <a:xfrm>
            <a:off x="1316736" y="2313432"/>
            <a:ext cx="146304" cy="146304"/>
          </a:xfrm>
          <a:prstGeom prst="ellipse">
            <a:avLst/>
          </a:prstGeom>
          <a:solidFill>
            <a:srgbClr val="55C45A"/>
          </a:solidFill>
          <a:ln/>
        </p:spPr>
      </p:sp>
      <p:sp>
        <p:nvSpPr>
          <p:cNvPr id="12" name="Shape 10"/>
          <p:cNvSpPr/>
          <p:nvPr/>
        </p:nvSpPr>
        <p:spPr>
          <a:xfrm>
            <a:off x="1828800" y="2258568"/>
            <a:ext cx="9144000" cy="256032"/>
          </a:xfrm>
          <a:prstGeom prst="roundRect">
            <a:avLst>
              <a:gd name="adj" fmla="val 14286"/>
            </a:avLst>
          </a:prstGeom>
          <a:solidFill>
            <a:srgbClr val="12182A"/>
          </a:solidFill>
          <a:ln/>
        </p:spPr>
      </p:sp>
      <p:sp>
        <p:nvSpPr>
          <p:cNvPr id="13" name="Text 11"/>
          <p:cNvSpPr/>
          <p:nvPr/>
        </p:nvSpPr>
        <p:spPr>
          <a:xfrm>
            <a:off x="1920240" y="2258568"/>
            <a:ext cx="9052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9B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https://datafix.bancofalabella.cl/mycheck   ·   Validador SQL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868680" y="2743200"/>
            <a:ext cx="6803136" cy="3429000"/>
          </a:xfrm>
          <a:prstGeom prst="rect">
            <a:avLst/>
          </a:prstGeom>
          <a:solidFill>
            <a:srgbClr val="0D1320"/>
          </a:solidFill>
          <a:ln w="6350">
            <a:solidFill>
              <a:srgbClr val="1F2A3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68680" y="2743200"/>
            <a:ext cx="411480" cy="3429000"/>
          </a:xfrm>
          <a:prstGeom prst="rect">
            <a:avLst/>
          </a:prstGeom>
          <a:solidFill>
            <a:srgbClr val="141C2D"/>
          </a:solidFill>
          <a:ln/>
        </p:spPr>
      </p:sp>
      <p:sp>
        <p:nvSpPr>
          <p:cNvPr id="16" name="Text 14"/>
          <p:cNvSpPr/>
          <p:nvPr/>
        </p:nvSpPr>
        <p:spPr>
          <a:xfrm>
            <a:off x="868680" y="2834640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864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868680" y="3127248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864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868680" y="3419856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864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868680" y="3712464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864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68680" y="4005072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864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868680" y="4297680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864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868680" y="4590288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864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868680" y="4882896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864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868680" y="5175504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864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868680" y="5468112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864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371600" y="2816352"/>
            <a:ext cx="616305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7C8A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Datafix RIESGO  · ticket DBA-4821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1371600" y="3108960"/>
            <a:ext cx="616305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7CC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UPDATE</a:t>
            </a:r>
            <a:r>
              <a:rPr lang="en-US" sz="1150" dirty="0">
                <a:solidFill>
                  <a:srgbClr val="E0E6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clientes</a:t>
            </a:r>
            <a:r>
              <a:rPr lang="en-US" sz="1150" dirty="0">
                <a:solidFill>
                  <a:srgbClr val="7CC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SET</a:t>
            </a:r>
            <a:r>
              <a:rPr lang="en-US" sz="1150" dirty="0">
                <a:solidFill>
                  <a:srgbClr val="E0E6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estado = </a:t>
            </a:r>
            <a:r>
              <a:rPr lang="en-US" sz="1150" dirty="0">
                <a:solidFill>
                  <a:srgbClr val="E2C7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'INACTIVO'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1371600" y="3401568"/>
            <a:ext cx="616305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7CC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WHERE</a:t>
            </a:r>
            <a:r>
              <a:rPr lang="en-US" sz="1150" dirty="0">
                <a:solidFill>
                  <a:srgbClr val="E0E6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last_login &lt; </a:t>
            </a:r>
            <a:r>
              <a:rPr lang="en-US" sz="1150" dirty="0">
                <a:solidFill>
                  <a:srgbClr val="B987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SYSDATE</a:t>
            </a:r>
            <a:r>
              <a:rPr lang="en-US" sz="1150" dirty="0">
                <a:solidFill>
                  <a:srgbClr val="E0E6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- </a:t>
            </a:r>
            <a:r>
              <a:rPr lang="en-US" sz="1150" dirty="0">
                <a:solidFill>
                  <a:srgbClr val="E2C7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365</a:t>
            </a:r>
            <a:r>
              <a:rPr lang="en-US" sz="1150" dirty="0">
                <a:solidFill>
                  <a:srgbClr val="E0E6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1371600" y="3694176"/>
            <a:ext cx="616305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1371600" y="3986784"/>
            <a:ext cx="616305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473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error de coma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1371600" y="4279392"/>
            <a:ext cx="616305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7CC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INSERT INTO</a:t>
            </a:r>
            <a:r>
              <a:rPr lang="en-US" sz="1150" dirty="0">
                <a:solidFill>
                  <a:srgbClr val="E0E6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log_audit  (fecha</a:t>
            </a:r>
            <a:r>
              <a:rPr lang="en-US" sz="1150" dirty="0">
                <a:solidFill>
                  <a:srgbClr val="F473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usuario,</a:t>
            </a:r>
            <a:r>
              <a:rPr lang="en-US" sz="1150" dirty="0">
                <a:solidFill>
                  <a:srgbClr val="E0E6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accion)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1371600" y="4572000"/>
            <a:ext cx="616305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7CC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VALUES</a:t>
            </a:r>
            <a:r>
              <a:rPr lang="en-US" sz="1150" dirty="0">
                <a:solidFill>
                  <a:srgbClr val="E0E6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</a:t>
            </a:r>
            <a:r>
              <a:rPr lang="en-US" sz="1150" dirty="0">
                <a:solidFill>
                  <a:srgbClr val="B987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SYSDATE</a:t>
            </a:r>
            <a:r>
              <a:rPr lang="en-US" sz="1150" dirty="0">
                <a:solidFill>
                  <a:srgbClr val="E0E6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1150" dirty="0">
                <a:solidFill>
                  <a:srgbClr val="E2C7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'app'</a:t>
            </a:r>
            <a:r>
              <a:rPr lang="en-US" sz="1150" dirty="0">
                <a:solidFill>
                  <a:srgbClr val="E0E6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1150" dirty="0">
                <a:solidFill>
                  <a:srgbClr val="E2C7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'datafix'</a:t>
            </a:r>
            <a:r>
              <a:rPr lang="en-US" sz="1150" dirty="0">
                <a:solidFill>
                  <a:srgbClr val="E0E6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1371600" y="4864608"/>
            <a:ext cx="616305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1371600" y="5157216"/>
            <a:ext cx="616305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7CC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COMMIT</a:t>
            </a:r>
            <a:r>
              <a:rPr lang="en-US" sz="1150" dirty="0">
                <a:solidFill>
                  <a:srgbClr val="E0E6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1280160" y="4279392"/>
            <a:ext cx="45720" cy="274320"/>
          </a:xfrm>
          <a:prstGeom prst="rect">
            <a:avLst/>
          </a:prstGeom>
          <a:solidFill>
            <a:srgbClr val="F47373"/>
          </a:solidFill>
          <a:ln/>
        </p:spPr>
      </p:sp>
      <p:sp>
        <p:nvSpPr>
          <p:cNvPr id="36" name="Shape 34"/>
          <p:cNvSpPr/>
          <p:nvPr/>
        </p:nvSpPr>
        <p:spPr>
          <a:xfrm>
            <a:off x="7946136" y="2743200"/>
            <a:ext cx="3392424" cy="3429000"/>
          </a:xfrm>
          <a:prstGeom prst="rect">
            <a:avLst/>
          </a:prstGeom>
          <a:solidFill>
            <a:srgbClr val="F8FAFC"/>
          </a:solidFill>
          <a:ln w="6350">
            <a:solidFill>
              <a:srgbClr val="E2E6EB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946136" y="2743200"/>
            <a:ext cx="3392424" cy="411480"/>
          </a:xfrm>
          <a:prstGeom prst="rect">
            <a:avLst/>
          </a:prstGeom>
          <a:solidFill>
            <a:srgbClr val="006B33"/>
          </a:solidFill>
          <a:ln/>
        </p:spPr>
      </p:sp>
      <p:sp>
        <p:nvSpPr>
          <p:cNvPr id="38" name="Text 36"/>
          <p:cNvSpPr/>
          <p:nvPr/>
        </p:nvSpPr>
        <p:spPr>
          <a:xfrm>
            <a:off x="8174736" y="2743200"/>
            <a:ext cx="293522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Diagnostico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8129016" y="3291840"/>
            <a:ext cx="3026664" cy="502920"/>
          </a:xfrm>
          <a:prstGeom prst="roundRect">
            <a:avLst>
              <a:gd name="adj" fmla="val 10909"/>
            </a:avLst>
          </a:prstGeom>
          <a:solidFill>
            <a:srgbClr val="FCE5E9"/>
          </a:solidFill>
          <a:ln/>
        </p:spPr>
      </p:sp>
      <p:sp>
        <p:nvSpPr>
          <p:cNvPr id="40" name="Text 38"/>
          <p:cNvSpPr/>
          <p:nvPr/>
        </p:nvSpPr>
        <p:spPr>
          <a:xfrm>
            <a:off x="8266176" y="3310128"/>
            <a:ext cx="284378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sintaxis</a:t>
            </a:r>
            <a:endParaRPr lang="en-US" sz="1150" dirty="0"/>
          </a:p>
        </p:txBody>
      </p:sp>
      <p:sp>
        <p:nvSpPr>
          <p:cNvPr id="41" name="Text 39"/>
          <p:cNvSpPr/>
          <p:nvPr/>
        </p:nvSpPr>
        <p:spPr>
          <a:xfrm>
            <a:off x="8266176" y="3520440"/>
            <a:ext cx="284378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 6  ·  falta coma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8129016" y="3886200"/>
            <a:ext cx="3026664" cy="502920"/>
          </a:xfrm>
          <a:prstGeom prst="roundRect">
            <a:avLst>
              <a:gd name="adj" fmla="val 10909"/>
            </a:avLst>
          </a:prstGeom>
          <a:solidFill>
            <a:srgbClr val="D7EFDF"/>
          </a:solidFill>
          <a:ln/>
        </p:spPr>
      </p:sp>
      <p:sp>
        <p:nvSpPr>
          <p:cNvPr id="43" name="Text 41"/>
          <p:cNvSpPr/>
          <p:nvPr/>
        </p:nvSpPr>
        <p:spPr>
          <a:xfrm>
            <a:off x="8266176" y="3904488"/>
            <a:ext cx="284378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06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Sintaxis OK · 8 sentencias</a:t>
            </a:r>
            <a:endParaRPr lang="en-US" sz="1150" dirty="0"/>
          </a:p>
        </p:txBody>
      </p:sp>
      <p:sp>
        <p:nvSpPr>
          <p:cNvPr id="44" name="Text 42"/>
          <p:cNvSpPr/>
          <p:nvPr/>
        </p:nvSpPr>
        <p:spPr>
          <a:xfrm>
            <a:off x="8266176" y="4114800"/>
            <a:ext cx="284378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Parser PLSQL v21c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8129016" y="4572000"/>
            <a:ext cx="302666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F2A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Sugerencia automática</a:t>
            </a:r>
            <a:endParaRPr lang="en-US" sz="1250" dirty="0"/>
          </a:p>
        </p:txBody>
      </p:sp>
      <p:sp>
        <p:nvSpPr>
          <p:cNvPr id="46" name="Text 44"/>
          <p:cNvSpPr/>
          <p:nvPr/>
        </p:nvSpPr>
        <p:spPr>
          <a:xfrm>
            <a:off x="8129016" y="4846320"/>
            <a:ext cx="302666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06B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INSERT INTO log_audit (fecha, usuario, accion)</a:t>
            </a:r>
            <a:endParaRPr lang="en-US" sz="1050" dirty="0"/>
          </a:p>
        </p:txBody>
      </p:sp>
      <p:sp>
        <p:nvSpPr>
          <p:cNvPr id="47" name="Text 45"/>
          <p:cNvSpPr/>
          <p:nvPr/>
        </p:nvSpPr>
        <p:spPr>
          <a:xfrm>
            <a:off x="8129016" y="5715000"/>
            <a:ext cx="302666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Tiempo de validación: 0.42 s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502920" y="6565392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Datafix Automatico  ·  Propuesta Banco Falabella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11094415" y="6565392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16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92608" cy="6858000"/>
          </a:xfrm>
          <a:prstGeom prst="rect">
            <a:avLst/>
          </a:prstGeom>
          <a:solidFill>
            <a:srgbClr val="00A651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600" dirty="0">
                <a:solidFill>
                  <a:srgbClr val="00A6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VISTA 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530352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2A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Auditor de reglas Oracle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298448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25+ reglas internas que codifican el "checklist mental" del DBA senior.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1783080"/>
            <a:ext cx="1280160" cy="0"/>
          </a:xfrm>
          <a:prstGeom prst="line">
            <a:avLst/>
          </a:prstGeom>
          <a:noFill/>
          <a:ln w="31750">
            <a:solidFill>
              <a:srgbClr val="00A65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2194560"/>
            <a:ext cx="6766560" cy="457200"/>
          </a:xfrm>
          <a:prstGeom prst="rect">
            <a:avLst/>
          </a:prstGeom>
          <a:solidFill>
            <a:srgbClr val="006B33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219456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Regla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3794760" y="219456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Severidad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349240" y="219456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Acción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40080" y="2651760"/>
            <a:ext cx="6766560" cy="384048"/>
          </a:xfrm>
          <a:prstGeom prst="rect">
            <a:avLst/>
          </a:prstGeom>
          <a:solidFill>
            <a:srgbClr val="FFFFFF"/>
          </a:solidFill>
          <a:ln w="5080">
            <a:solidFill>
              <a:srgbClr val="E2E6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2651760"/>
            <a:ext cx="2834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sin WHERE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3794760" y="2724912"/>
            <a:ext cx="1280160" cy="237744"/>
          </a:xfrm>
          <a:prstGeom prst="roundRect">
            <a:avLst>
              <a:gd name="adj" fmla="val 19231"/>
            </a:avLst>
          </a:prstGeom>
          <a:solidFill>
            <a:srgbClr val="FCE5E9"/>
          </a:solidFill>
          <a:ln/>
        </p:spPr>
      </p:sp>
      <p:sp>
        <p:nvSpPr>
          <p:cNvPr id="14" name="Text 12"/>
          <p:cNvSpPr/>
          <p:nvPr/>
        </p:nvSpPr>
        <p:spPr>
          <a:xfrm>
            <a:off x="3794760" y="2706624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CRITICO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349240" y="2651760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Bloquear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40080" y="3035808"/>
            <a:ext cx="6766560" cy="384048"/>
          </a:xfrm>
          <a:prstGeom prst="rect">
            <a:avLst/>
          </a:prstGeom>
          <a:solidFill>
            <a:srgbClr val="F4F6F8"/>
          </a:solidFill>
          <a:ln w="5080">
            <a:solidFill>
              <a:srgbClr val="E2E6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7240" y="3035808"/>
            <a:ext cx="2834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 sin WHERE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3794760" y="3108960"/>
            <a:ext cx="1280160" cy="237744"/>
          </a:xfrm>
          <a:prstGeom prst="roundRect">
            <a:avLst>
              <a:gd name="adj" fmla="val 19231"/>
            </a:avLst>
          </a:prstGeom>
          <a:solidFill>
            <a:srgbClr val="FCE5E9"/>
          </a:solidFill>
          <a:ln/>
        </p:spPr>
      </p:sp>
      <p:sp>
        <p:nvSpPr>
          <p:cNvPr id="19" name="Text 17"/>
          <p:cNvSpPr/>
          <p:nvPr/>
        </p:nvSpPr>
        <p:spPr>
          <a:xfrm>
            <a:off x="3794760" y="3090672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CRITICO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349240" y="3035808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Bloquear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40080" y="3419856"/>
            <a:ext cx="6766560" cy="384048"/>
          </a:xfrm>
          <a:prstGeom prst="rect">
            <a:avLst/>
          </a:prstGeom>
          <a:solidFill>
            <a:srgbClr val="FFFFFF"/>
          </a:solidFill>
          <a:ln w="5080">
            <a:solidFill>
              <a:srgbClr val="E2E6E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7240" y="3419856"/>
            <a:ext cx="2834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TRUNCATE TABLE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3794760" y="3493008"/>
            <a:ext cx="1280160" cy="237744"/>
          </a:xfrm>
          <a:prstGeom prst="roundRect">
            <a:avLst>
              <a:gd name="adj" fmla="val 19231"/>
            </a:avLst>
          </a:prstGeom>
          <a:solidFill>
            <a:srgbClr val="FCE5E9"/>
          </a:solidFill>
          <a:ln/>
        </p:spPr>
      </p:sp>
      <p:sp>
        <p:nvSpPr>
          <p:cNvPr id="24" name="Text 22"/>
          <p:cNvSpPr/>
          <p:nvPr/>
        </p:nvSpPr>
        <p:spPr>
          <a:xfrm>
            <a:off x="3794760" y="347472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CRITICO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349240" y="3419856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Bloquear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640080" y="3803904"/>
            <a:ext cx="6766560" cy="384048"/>
          </a:xfrm>
          <a:prstGeom prst="rect">
            <a:avLst/>
          </a:prstGeom>
          <a:solidFill>
            <a:srgbClr val="F4F6F8"/>
          </a:solidFill>
          <a:ln w="5080">
            <a:solidFill>
              <a:srgbClr val="E2E6E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77240" y="3803904"/>
            <a:ext cx="2834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/ ALTER en core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3794760" y="3877056"/>
            <a:ext cx="1280160" cy="237744"/>
          </a:xfrm>
          <a:prstGeom prst="roundRect">
            <a:avLst>
              <a:gd name="adj" fmla="val 19231"/>
            </a:avLst>
          </a:prstGeom>
          <a:solidFill>
            <a:srgbClr val="FCE5E9"/>
          </a:solidFill>
          <a:ln/>
        </p:spPr>
      </p:sp>
      <p:sp>
        <p:nvSpPr>
          <p:cNvPr id="29" name="Text 27"/>
          <p:cNvSpPr/>
          <p:nvPr/>
        </p:nvSpPr>
        <p:spPr>
          <a:xfrm>
            <a:off x="3794760" y="3858768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CRITICO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349240" y="3803904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Bloquear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640080" y="4187952"/>
            <a:ext cx="6766560" cy="384048"/>
          </a:xfrm>
          <a:prstGeom prst="rect">
            <a:avLst/>
          </a:prstGeom>
          <a:solidFill>
            <a:srgbClr val="FFFFFF"/>
          </a:solidFill>
          <a:ln w="5080">
            <a:solidFill>
              <a:srgbClr val="E2E6E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77240" y="4187952"/>
            <a:ext cx="2834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GRANT a usuario directo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3794760" y="4261104"/>
            <a:ext cx="1280160" cy="237744"/>
          </a:xfrm>
          <a:prstGeom prst="roundRect">
            <a:avLst>
              <a:gd name="adj" fmla="val 19231"/>
            </a:avLst>
          </a:prstGeom>
          <a:solidFill>
            <a:srgbClr val="FFF1DC"/>
          </a:solidFill>
          <a:ln/>
        </p:spPr>
      </p:sp>
      <p:sp>
        <p:nvSpPr>
          <p:cNvPr id="34" name="Text 32"/>
          <p:cNvSpPr/>
          <p:nvPr/>
        </p:nvSpPr>
        <p:spPr>
          <a:xfrm>
            <a:off x="3794760" y="4242816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B45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ALTO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349240" y="4187952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Alertar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640080" y="4572000"/>
            <a:ext cx="6766560" cy="384048"/>
          </a:xfrm>
          <a:prstGeom prst="rect">
            <a:avLst/>
          </a:prstGeom>
          <a:solidFill>
            <a:srgbClr val="F4F6F8"/>
          </a:solidFill>
          <a:ln w="5080">
            <a:solidFill>
              <a:srgbClr val="E2E6E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77240" y="4572000"/>
            <a:ext cx="2834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COMMIT explícito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3794760" y="4645152"/>
            <a:ext cx="1280160" cy="237744"/>
          </a:xfrm>
          <a:prstGeom prst="roundRect">
            <a:avLst>
              <a:gd name="adj" fmla="val 19231"/>
            </a:avLst>
          </a:prstGeom>
          <a:solidFill>
            <a:srgbClr val="FFF1DC"/>
          </a:solidFill>
          <a:ln/>
        </p:spPr>
      </p:sp>
      <p:sp>
        <p:nvSpPr>
          <p:cNvPr id="39" name="Text 37"/>
          <p:cNvSpPr/>
          <p:nvPr/>
        </p:nvSpPr>
        <p:spPr>
          <a:xfrm>
            <a:off x="3794760" y="4626864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B45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ALTO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5349240" y="4572000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Alertar</a:t>
            </a:r>
            <a:endParaRPr lang="en-US" sz="1150" dirty="0"/>
          </a:p>
        </p:txBody>
      </p:sp>
      <p:sp>
        <p:nvSpPr>
          <p:cNvPr id="41" name="Shape 39"/>
          <p:cNvSpPr/>
          <p:nvPr/>
        </p:nvSpPr>
        <p:spPr>
          <a:xfrm>
            <a:off x="640080" y="4956048"/>
            <a:ext cx="6766560" cy="384048"/>
          </a:xfrm>
          <a:prstGeom prst="rect">
            <a:avLst/>
          </a:prstGeom>
          <a:solidFill>
            <a:srgbClr val="FFFFFF"/>
          </a:solidFill>
          <a:ln w="5080">
            <a:solidFill>
              <a:srgbClr val="E2E6E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77240" y="4956048"/>
            <a:ext cx="2834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 de tabla &gt; 100k filas</a:t>
            </a:r>
            <a:endParaRPr lang="en-US" sz="1150" dirty="0"/>
          </a:p>
        </p:txBody>
      </p:sp>
      <p:sp>
        <p:nvSpPr>
          <p:cNvPr id="43" name="Shape 41"/>
          <p:cNvSpPr/>
          <p:nvPr/>
        </p:nvSpPr>
        <p:spPr>
          <a:xfrm>
            <a:off x="3794760" y="5029200"/>
            <a:ext cx="1280160" cy="237744"/>
          </a:xfrm>
          <a:prstGeom prst="roundRect">
            <a:avLst>
              <a:gd name="adj" fmla="val 19231"/>
            </a:avLst>
          </a:prstGeom>
          <a:solidFill>
            <a:srgbClr val="FFF1DC"/>
          </a:solidFill>
          <a:ln/>
        </p:spPr>
      </p:sp>
      <p:sp>
        <p:nvSpPr>
          <p:cNvPr id="44" name="Text 42"/>
          <p:cNvSpPr/>
          <p:nvPr/>
        </p:nvSpPr>
        <p:spPr>
          <a:xfrm>
            <a:off x="3794760" y="5010912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B45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ALTO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5349240" y="4956048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Alertar</a:t>
            </a:r>
            <a:endParaRPr lang="en-US" sz="1150" dirty="0"/>
          </a:p>
        </p:txBody>
      </p:sp>
      <p:sp>
        <p:nvSpPr>
          <p:cNvPr id="46" name="Shape 44"/>
          <p:cNvSpPr/>
          <p:nvPr/>
        </p:nvSpPr>
        <p:spPr>
          <a:xfrm>
            <a:off x="640080" y="5340096"/>
            <a:ext cx="6766560" cy="384048"/>
          </a:xfrm>
          <a:prstGeom prst="rect">
            <a:avLst/>
          </a:prstGeom>
          <a:solidFill>
            <a:srgbClr val="F4F6F8"/>
          </a:solidFill>
          <a:ln w="5080">
            <a:solidFill>
              <a:srgbClr val="E2E6EB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77240" y="5340096"/>
            <a:ext cx="2834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SAVEPOINT</a:t>
            </a:r>
            <a:endParaRPr lang="en-US" sz="1150" dirty="0"/>
          </a:p>
        </p:txBody>
      </p:sp>
      <p:sp>
        <p:nvSpPr>
          <p:cNvPr id="48" name="Shape 46"/>
          <p:cNvSpPr/>
          <p:nvPr/>
        </p:nvSpPr>
        <p:spPr>
          <a:xfrm>
            <a:off x="3794760" y="5413248"/>
            <a:ext cx="1280160" cy="237744"/>
          </a:xfrm>
          <a:prstGeom prst="roundRect">
            <a:avLst>
              <a:gd name="adj" fmla="val 19231"/>
            </a:avLst>
          </a:prstGeom>
          <a:solidFill>
            <a:srgbClr val="EAEDF1"/>
          </a:solidFill>
          <a:ln/>
        </p:spPr>
      </p:sp>
      <p:sp>
        <p:nvSpPr>
          <p:cNvPr id="49" name="Text 47"/>
          <p:cNvSpPr/>
          <p:nvPr/>
        </p:nvSpPr>
        <p:spPr>
          <a:xfrm>
            <a:off x="3794760" y="539496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MEDIO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5349240" y="5340096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Sugerir</a:t>
            </a:r>
            <a:endParaRPr lang="en-US" sz="1150" dirty="0"/>
          </a:p>
        </p:txBody>
      </p:sp>
      <p:sp>
        <p:nvSpPr>
          <p:cNvPr id="51" name="Shape 49"/>
          <p:cNvSpPr/>
          <p:nvPr/>
        </p:nvSpPr>
        <p:spPr>
          <a:xfrm>
            <a:off x="640080" y="5724144"/>
            <a:ext cx="6766560" cy="384048"/>
          </a:xfrm>
          <a:prstGeom prst="rect">
            <a:avLst/>
          </a:prstGeom>
          <a:solidFill>
            <a:srgbClr val="FFFFFF"/>
          </a:solidFill>
          <a:ln w="5080">
            <a:solidFill>
              <a:srgbClr val="E2E6EB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777240" y="5724144"/>
            <a:ext cx="2834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Tipos de dato implícitos</a:t>
            </a:r>
            <a:endParaRPr lang="en-US" sz="1150" dirty="0"/>
          </a:p>
        </p:txBody>
      </p:sp>
      <p:sp>
        <p:nvSpPr>
          <p:cNvPr id="53" name="Shape 51"/>
          <p:cNvSpPr/>
          <p:nvPr/>
        </p:nvSpPr>
        <p:spPr>
          <a:xfrm>
            <a:off x="3794760" y="5797296"/>
            <a:ext cx="1280160" cy="237744"/>
          </a:xfrm>
          <a:prstGeom prst="roundRect">
            <a:avLst>
              <a:gd name="adj" fmla="val 19231"/>
            </a:avLst>
          </a:prstGeom>
          <a:solidFill>
            <a:srgbClr val="EAEDF1"/>
          </a:solidFill>
          <a:ln/>
        </p:spPr>
      </p:sp>
      <p:sp>
        <p:nvSpPr>
          <p:cNvPr id="54" name="Text 52"/>
          <p:cNvSpPr/>
          <p:nvPr/>
        </p:nvSpPr>
        <p:spPr>
          <a:xfrm>
            <a:off x="3794760" y="5779008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MEDIO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5349240" y="5724144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Sugerir</a:t>
            </a:r>
            <a:endParaRPr lang="en-US" sz="1150" dirty="0"/>
          </a:p>
        </p:txBody>
      </p:sp>
      <p:sp>
        <p:nvSpPr>
          <p:cNvPr id="56" name="Shape 54"/>
          <p:cNvSpPr/>
          <p:nvPr/>
        </p:nvSpPr>
        <p:spPr>
          <a:xfrm>
            <a:off x="7680960" y="2194560"/>
            <a:ext cx="3931920" cy="4160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6EB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7680960" y="2194560"/>
            <a:ext cx="3931920" cy="50292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58" name="Text 56"/>
          <p:cNvSpPr/>
          <p:nvPr/>
        </p:nvSpPr>
        <p:spPr>
          <a:xfrm>
            <a:off x="7909560" y="2194560"/>
            <a:ext cx="3474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Hallazgo critico</a:t>
            </a:r>
            <a:endParaRPr lang="en-US" sz="1400" dirty="0"/>
          </a:p>
        </p:txBody>
      </p:sp>
      <p:sp>
        <p:nvSpPr>
          <p:cNvPr id="59" name="Text 57"/>
          <p:cNvSpPr/>
          <p:nvPr/>
        </p:nvSpPr>
        <p:spPr>
          <a:xfrm>
            <a:off x="7955280" y="288036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Regla:</a:t>
            </a:r>
            <a:endParaRPr lang="en-US" sz="1100" dirty="0"/>
          </a:p>
        </p:txBody>
      </p:sp>
      <p:sp>
        <p:nvSpPr>
          <p:cNvPr id="60" name="Text 58"/>
          <p:cNvSpPr/>
          <p:nvPr/>
        </p:nvSpPr>
        <p:spPr>
          <a:xfrm>
            <a:off x="7955280" y="315468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A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UPDATE sin clausula WHERE</a:t>
            </a:r>
            <a:endParaRPr lang="en-US" sz="1400" dirty="0"/>
          </a:p>
        </p:txBody>
      </p:sp>
      <p:sp>
        <p:nvSpPr>
          <p:cNvPr id="61" name="Text 59"/>
          <p:cNvSpPr/>
          <p:nvPr/>
        </p:nvSpPr>
        <p:spPr>
          <a:xfrm>
            <a:off x="7955280" y="361188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Línea / archivo:</a:t>
            </a:r>
            <a:endParaRPr lang="en-US" sz="1100" dirty="0"/>
          </a:p>
        </p:txBody>
      </p:sp>
      <p:sp>
        <p:nvSpPr>
          <p:cNvPr id="62" name="Text 60"/>
          <p:cNvSpPr/>
          <p:nvPr/>
        </p:nvSpPr>
        <p:spPr>
          <a:xfrm>
            <a:off x="7955280" y="388620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F2A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script_riesgo.sql · línea 14</a:t>
            </a:r>
            <a:endParaRPr lang="en-US" sz="1150" dirty="0"/>
          </a:p>
        </p:txBody>
      </p:sp>
      <p:sp>
        <p:nvSpPr>
          <p:cNvPr id="63" name="Shape 61"/>
          <p:cNvSpPr/>
          <p:nvPr/>
        </p:nvSpPr>
        <p:spPr>
          <a:xfrm>
            <a:off x="7955280" y="4343400"/>
            <a:ext cx="3383280" cy="640080"/>
          </a:xfrm>
          <a:prstGeom prst="rect">
            <a:avLst/>
          </a:prstGeom>
          <a:solidFill>
            <a:srgbClr val="0D1320"/>
          </a:solidFill>
          <a:ln/>
        </p:spPr>
      </p:sp>
      <p:sp>
        <p:nvSpPr>
          <p:cNvPr id="64" name="Text 62"/>
          <p:cNvSpPr/>
          <p:nvPr/>
        </p:nvSpPr>
        <p:spPr>
          <a:xfrm>
            <a:off x="8046720" y="438912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473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UPDATE clientes SET activo=0;</a:t>
            </a:r>
            <a:endParaRPr lang="en-US" sz="1100" dirty="0"/>
          </a:p>
        </p:txBody>
      </p:sp>
      <p:sp>
        <p:nvSpPr>
          <p:cNvPr id="65" name="Text 63"/>
          <p:cNvSpPr/>
          <p:nvPr/>
        </p:nvSpPr>
        <p:spPr>
          <a:xfrm>
            <a:off x="7955280" y="512064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Impacto estimado:</a:t>
            </a:r>
            <a:endParaRPr lang="en-US" sz="1100" dirty="0"/>
          </a:p>
        </p:txBody>
      </p:sp>
      <p:sp>
        <p:nvSpPr>
          <p:cNvPr id="66" name="Text 64"/>
          <p:cNvSpPr/>
          <p:nvPr/>
        </p:nvSpPr>
        <p:spPr>
          <a:xfrm>
            <a:off x="7955280" y="539496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81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1.847.392 filas afectadas</a:t>
            </a:r>
            <a:endParaRPr lang="en-US" sz="1400" dirty="0"/>
          </a:p>
        </p:txBody>
      </p:sp>
      <p:sp>
        <p:nvSpPr>
          <p:cNvPr id="67" name="Shape 65"/>
          <p:cNvSpPr/>
          <p:nvPr/>
        </p:nvSpPr>
        <p:spPr>
          <a:xfrm>
            <a:off x="7955280" y="5760720"/>
            <a:ext cx="3383280" cy="411480"/>
          </a:xfrm>
          <a:prstGeom prst="roundRect">
            <a:avLst>
              <a:gd name="adj" fmla="val 13333"/>
            </a:avLst>
          </a:prstGeom>
          <a:solidFill>
            <a:srgbClr val="FDB913"/>
          </a:solidFill>
          <a:ln/>
        </p:spPr>
      </p:sp>
      <p:sp>
        <p:nvSpPr>
          <p:cNvPr id="68" name="Text 66"/>
          <p:cNvSpPr/>
          <p:nvPr/>
        </p:nvSpPr>
        <p:spPr>
          <a:xfrm>
            <a:off x="7955280" y="5760720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2A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Bloqueado · score -25</a:t>
            </a:r>
            <a:endParaRPr lang="en-US" sz="1200" dirty="0"/>
          </a:p>
        </p:txBody>
      </p:sp>
      <p:sp>
        <p:nvSpPr>
          <p:cNvPr id="69" name="Text 67"/>
          <p:cNvSpPr/>
          <p:nvPr/>
        </p:nvSpPr>
        <p:spPr>
          <a:xfrm>
            <a:off x="502920" y="6565392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Datafix Automatico  ·  Propuesta Banco Falabella</a:t>
            </a:r>
            <a:endParaRPr lang="en-US" sz="900" dirty="0"/>
          </a:p>
        </p:txBody>
      </p:sp>
      <p:sp>
        <p:nvSpPr>
          <p:cNvPr id="70" name="Text 68"/>
          <p:cNvSpPr/>
          <p:nvPr/>
        </p:nvSpPr>
        <p:spPr>
          <a:xfrm>
            <a:off x="11094415" y="6565392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16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92608" cy="6858000"/>
          </a:xfrm>
          <a:prstGeom prst="rect">
            <a:avLst/>
          </a:prstGeom>
          <a:solidFill>
            <a:srgbClr val="00A651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600" dirty="0">
                <a:solidFill>
                  <a:srgbClr val="00A6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VISTA 3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530352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2A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DRY RUN  ·  motor de simulacion estilo Liquibase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298448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Ejecuta el script en una sesión real con SAVEPOINT y ROLLBACK automático.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1783080"/>
            <a:ext cx="1280160" cy="0"/>
          </a:xfrm>
          <a:prstGeom prst="line">
            <a:avLst/>
          </a:prstGeom>
          <a:noFill/>
          <a:ln w="31750">
            <a:solidFill>
              <a:srgbClr val="00A65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2194560"/>
            <a:ext cx="6766560" cy="4160520"/>
          </a:xfrm>
          <a:prstGeom prst="rect">
            <a:avLst/>
          </a:prstGeom>
          <a:solidFill>
            <a:srgbClr val="0A0F1A"/>
          </a:solidFill>
          <a:ln/>
        </p:spPr>
      </p:sp>
      <p:sp>
        <p:nvSpPr>
          <p:cNvPr id="8" name="Shape 6"/>
          <p:cNvSpPr/>
          <p:nvPr/>
        </p:nvSpPr>
        <p:spPr>
          <a:xfrm>
            <a:off x="640080" y="2194560"/>
            <a:ext cx="6766560" cy="384048"/>
          </a:xfrm>
          <a:prstGeom prst="rect">
            <a:avLst/>
          </a:prstGeom>
          <a:solidFill>
            <a:srgbClr val="141B2C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2194560"/>
            <a:ext cx="6309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B5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▶  oracle-xe / pdb1   ·   DRY RUN console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68680" y="2697480"/>
            <a:ext cx="63093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B5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[10:42:01] Conectando a Oracle XE 21c · pdb1 ...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68680" y="2944368"/>
            <a:ext cx="63093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C7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[10:42:01] OK  · Sesion DRY_RUN_42 abierta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68680" y="3191256"/>
            <a:ext cx="63093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B5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[10:42:02] SAVEPOINT pre_datafix creado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68680" y="3438144"/>
            <a:ext cx="63093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B5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[10:42:02] Ejecutando script_riesgo.sql ...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68680" y="3685032"/>
            <a:ext cx="63093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68680" y="3931920"/>
            <a:ext cx="63093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C7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&gt;&gt; UPDATE clientes SET ...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68680" y="4178808"/>
            <a:ext cx="63093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473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1,847,392 filas afectadas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68680" y="4425696"/>
            <a:ext cx="63093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C7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&gt;&gt; INSERT INTO log_audit ...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68680" y="4672584"/>
            <a:ext cx="63093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C7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1 fila afectada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68680" y="4919472"/>
            <a:ext cx="63093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C7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&gt;&gt; COMMIT ...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68680" y="5166360"/>
            <a:ext cx="63093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68680" y="5413248"/>
            <a:ext cx="63093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C7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[10:42:08] ROLLBACK TO pre_datafix · base intacta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68680" y="5660136"/>
            <a:ext cx="63093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B5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[10:42:08] Tiempo total: 5.71 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68680" y="5907024"/>
            <a:ext cx="63093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C7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[10:42:08] Resultado: SIMULACION OK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7635240" y="2194560"/>
            <a:ext cx="3916375" cy="4160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6E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635240" y="2194560"/>
            <a:ext cx="3916375" cy="502920"/>
          </a:xfrm>
          <a:prstGeom prst="rect">
            <a:avLst/>
          </a:prstGeom>
          <a:solidFill>
            <a:srgbClr val="00A651"/>
          </a:solidFill>
          <a:ln/>
        </p:spPr>
      </p:sp>
      <p:sp>
        <p:nvSpPr>
          <p:cNvPr id="26" name="Text 24"/>
          <p:cNvSpPr/>
          <p:nvPr/>
        </p:nvSpPr>
        <p:spPr>
          <a:xfrm>
            <a:off x="7863840" y="2194560"/>
            <a:ext cx="345917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Resumen DRY RUN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7863840" y="2834640"/>
            <a:ext cx="3459175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Filas afectadas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7863840" y="3054096"/>
            <a:ext cx="345917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2A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1.847.393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7863840" y="3364992"/>
            <a:ext cx="3459175" cy="0"/>
          </a:xfrm>
          <a:prstGeom prst="line">
            <a:avLst/>
          </a:prstGeom>
          <a:noFill/>
          <a:ln w="6350">
            <a:solidFill>
              <a:srgbClr val="E2E6E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863840" y="3401568"/>
            <a:ext cx="3459175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Sentencias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7863840" y="3621024"/>
            <a:ext cx="345917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2A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7863840" y="3931920"/>
            <a:ext cx="3459175" cy="0"/>
          </a:xfrm>
          <a:prstGeom prst="line">
            <a:avLst/>
          </a:prstGeom>
          <a:noFill/>
          <a:ln w="6350">
            <a:solidFill>
              <a:srgbClr val="E2E6E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863840" y="3968496"/>
            <a:ext cx="3459175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Errores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7863840" y="4187952"/>
            <a:ext cx="345917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2A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7863840" y="4498848"/>
            <a:ext cx="3459175" cy="0"/>
          </a:xfrm>
          <a:prstGeom prst="line">
            <a:avLst/>
          </a:prstGeom>
          <a:noFill/>
          <a:ln w="6350">
            <a:solidFill>
              <a:srgbClr val="E2E6E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863840" y="4535424"/>
            <a:ext cx="3459175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Warnings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7863840" y="4754880"/>
            <a:ext cx="345917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2A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7863840" y="5065776"/>
            <a:ext cx="3459175" cy="0"/>
          </a:xfrm>
          <a:prstGeom prst="line">
            <a:avLst/>
          </a:prstGeom>
          <a:noFill/>
          <a:ln w="6350">
            <a:solidFill>
              <a:srgbClr val="E2E6E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863840" y="5102352"/>
            <a:ext cx="3459175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Tiempo simulación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7863840" y="5321808"/>
            <a:ext cx="345917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2A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5.71 s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7818120" y="5760720"/>
            <a:ext cx="3550615" cy="411480"/>
          </a:xfrm>
          <a:prstGeom prst="roundRect">
            <a:avLst>
              <a:gd name="adj" fmla="val 13333"/>
            </a:avLst>
          </a:prstGeom>
          <a:solidFill>
            <a:srgbClr val="00A651"/>
          </a:solidFill>
          <a:ln/>
        </p:spPr>
      </p:sp>
      <p:sp>
        <p:nvSpPr>
          <p:cNvPr id="42" name="Text 40"/>
          <p:cNvSpPr/>
          <p:nvPr/>
        </p:nvSpPr>
        <p:spPr>
          <a:xfrm>
            <a:off x="7818120" y="5760720"/>
            <a:ext cx="355061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Listo para producción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502920" y="6565392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Datafix Automatico  ·  Propuesta Banco Falabella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11094415" y="6565392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16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92608" cy="6858000"/>
          </a:xfrm>
          <a:prstGeom prst="rect">
            <a:avLst/>
          </a:prstGeom>
          <a:solidFill>
            <a:srgbClr val="00A651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600" dirty="0">
                <a:solidFill>
                  <a:srgbClr val="00A6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VISTA 4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530352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2A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Reporte de Score (max 100)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298448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Fórmula simple, exportable a PDF, anexable al ticket de cambio.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1783080"/>
            <a:ext cx="1280160" cy="0"/>
          </a:xfrm>
          <a:prstGeom prst="line">
            <a:avLst/>
          </a:prstGeom>
          <a:noFill/>
          <a:ln w="31750">
            <a:solidFill>
              <a:srgbClr val="00A65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14400" y="2834640"/>
            <a:ext cx="2926080" cy="2926080"/>
          </a:xfrm>
          <a:prstGeom prst="ellipse">
            <a:avLst/>
          </a:prstGeom>
          <a:solidFill>
            <a:srgbClr val="D7EFDF"/>
          </a:solidFill>
          <a:ln w="76200">
            <a:solidFill>
              <a:srgbClr val="00A65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234440" y="3154680"/>
            <a:ext cx="2286000" cy="228600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1280160" y="3520440"/>
            <a:ext cx="21945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400" b="1" dirty="0">
                <a:solidFill>
                  <a:srgbClr val="00A65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72</a:t>
            </a:r>
            <a:endParaRPr lang="en-US" sz="6400" dirty="0"/>
          </a:p>
        </p:txBody>
      </p:sp>
      <p:sp>
        <p:nvSpPr>
          <p:cNvPr id="10" name="Text 8"/>
          <p:cNvSpPr/>
          <p:nvPr/>
        </p:nvSpPr>
        <p:spPr>
          <a:xfrm>
            <a:off x="1280160" y="470916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/ 100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1280160" y="5989320"/>
            <a:ext cx="2194560" cy="457200"/>
          </a:xfrm>
          <a:prstGeom prst="roundRect">
            <a:avLst>
              <a:gd name="adj" fmla="val 12000"/>
            </a:avLst>
          </a:prstGeom>
          <a:solidFill>
            <a:srgbClr val="FDB913"/>
          </a:solidFill>
          <a:ln/>
        </p:spPr>
      </p:sp>
      <p:sp>
        <p:nvSpPr>
          <p:cNvPr id="12" name="Text 10"/>
          <p:cNvSpPr/>
          <p:nvPr/>
        </p:nvSpPr>
        <p:spPr>
          <a:xfrm>
            <a:off x="1280160" y="598932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F2A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APROBADO con observaciones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937760" y="2240280"/>
            <a:ext cx="6675120" cy="548640"/>
          </a:xfrm>
          <a:prstGeom prst="rect">
            <a:avLst/>
          </a:prstGeom>
          <a:solidFill>
            <a:srgbClr val="0D1320"/>
          </a:solidFill>
          <a:ln/>
        </p:spPr>
      </p:sp>
      <p:sp>
        <p:nvSpPr>
          <p:cNvPr id="14" name="Text 12"/>
          <p:cNvSpPr/>
          <p:nvPr/>
        </p:nvSpPr>
        <p:spPr>
          <a:xfrm>
            <a:off x="4937760" y="2240280"/>
            <a:ext cx="6675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DB91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SCORE  =  100  −  25 × CRITICO  −  10 × ALTO  −  3 × MEDIO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4937760" y="3017520"/>
            <a:ext cx="6675120" cy="594360"/>
          </a:xfrm>
          <a:prstGeom prst="rect">
            <a:avLst/>
          </a:prstGeom>
          <a:solidFill>
            <a:srgbClr val="EAEDF1"/>
          </a:solidFill>
          <a:ln/>
        </p:spPr>
      </p:sp>
      <p:sp>
        <p:nvSpPr>
          <p:cNvPr id="16" name="Text 14"/>
          <p:cNvSpPr/>
          <p:nvPr/>
        </p:nvSpPr>
        <p:spPr>
          <a:xfrm>
            <a:off x="5166360" y="3017520"/>
            <a:ext cx="3291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B55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hallazgos MEDIO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321040" y="3017520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tipos implícitos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10698480" y="3017520"/>
            <a:ext cx="731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4B556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-6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4937760" y="3749040"/>
            <a:ext cx="6675120" cy="594360"/>
          </a:xfrm>
          <a:prstGeom prst="rect">
            <a:avLst/>
          </a:prstGeom>
          <a:solidFill>
            <a:srgbClr val="FFF1DC"/>
          </a:solidFill>
          <a:ln/>
        </p:spPr>
      </p:sp>
      <p:sp>
        <p:nvSpPr>
          <p:cNvPr id="20" name="Text 18"/>
          <p:cNvSpPr/>
          <p:nvPr/>
        </p:nvSpPr>
        <p:spPr>
          <a:xfrm>
            <a:off x="5166360" y="3749040"/>
            <a:ext cx="3291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453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hallazgos ALTO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321040" y="3749040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COMMIT · GRANT directo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10698480" y="3749040"/>
            <a:ext cx="731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B453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-20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4937760" y="4480560"/>
            <a:ext cx="6675120" cy="594360"/>
          </a:xfrm>
          <a:prstGeom prst="rect">
            <a:avLst/>
          </a:prstGeom>
          <a:solidFill>
            <a:srgbClr val="D7EFDF"/>
          </a:solidFill>
          <a:ln/>
        </p:spPr>
      </p:sp>
      <p:sp>
        <p:nvSpPr>
          <p:cNvPr id="24" name="Text 22"/>
          <p:cNvSpPr/>
          <p:nvPr/>
        </p:nvSpPr>
        <p:spPr>
          <a:xfrm>
            <a:off x="5166360" y="4480560"/>
            <a:ext cx="3291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6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 hallazgos CRITICO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8321040" y="4480560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bloqueos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10698480" y="4480560"/>
            <a:ext cx="731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006B3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4937760" y="5486400"/>
            <a:ext cx="6675120" cy="868680"/>
          </a:xfrm>
          <a:prstGeom prst="rect">
            <a:avLst/>
          </a:prstGeom>
          <a:solidFill>
            <a:srgbClr val="D7EFDF"/>
          </a:solidFill>
          <a:ln/>
        </p:spPr>
      </p:sp>
      <p:sp>
        <p:nvSpPr>
          <p:cNvPr id="28" name="Text 26"/>
          <p:cNvSpPr/>
          <p:nvPr/>
        </p:nvSpPr>
        <p:spPr>
          <a:xfrm>
            <a:off x="5074920" y="55321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6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Recomendación: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074920" y="5779008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Resolver hallazgos ALTO antes de programar. Score objetivo ≥ 90 para auto-aprobación.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502920" y="6565392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Datafix Automatico  ·  Propuesta Banco Falabella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1094415" y="6565392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16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92608" cy="6858000"/>
          </a:xfrm>
          <a:prstGeom prst="rect">
            <a:avLst/>
          </a:prstGeom>
          <a:solidFill>
            <a:srgbClr val="00A651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600" dirty="0">
                <a:solidFill>
                  <a:srgbClr val="00A6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BENEFICIOS CUANTIFICABLES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530352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2A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 que se gana en cifras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298448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Medido sobre proyectos comparables de scripts Oracle críticos.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1783080"/>
            <a:ext cx="1280160" cy="0"/>
          </a:xfrm>
          <a:prstGeom prst="line">
            <a:avLst/>
          </a:prstGeom>
          <a:noFill/>
          <a:ln w="31750">
            <a:solidFill>
              <a:srgbClr val="00A65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2194560"/>
            <a:ext cx="365760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6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2194560"/>
            <a:ext cx="3657600" cy="109728"/>
          </a:xfrm>
          <a:prstGeom prst="rect">
            <a:avLst/>
          </a:prstGeom>
          <a:solidFill>
            <a:srgbClr val="00A651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2377440"/>
            <a:ext cx="32004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00A65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-80%</a:t>
            </a:r>
            <a:endParaRPr lang="en-US" sz="4600" dirty="0"/>
          </a:p>
        </p:txBody>
      </p:sp>
      <p:sp>
        <p:nvSpPr>
          <p:cNvPr id="10" name="Text 8"/>
          <p:cNvSpPr/>
          <p:nvPr/>
        </p:nvSpPr>
        <p:spPr>
          <a:xfrm>
            <a:off x="868680" y="320040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A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Impacto en falla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68680" y="356616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Menos incidentes que escalan a producción.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526280" y="2194560"/>
            <a:ext cx="365760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6E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26280" y="2194560"/>
            <a:ext cx="3657600" cy="109728"/>
          </a:xfrm>
          <a:prstGeom prst="rect">
            <a:avLst/>
          </a:prstGeom>
          <a:solidFill>
            <a:srgbClr val="00A651"/>
          </a:solidFill>
          <a:ln/>
        </p:spPr>
      </p:sp>
      <p:sp>
        <p:nvSpPr>
          <p:cNvPr id="14" name="Text 12"/>
          <p:cNvSpPr/>
          <p:nvPr/>
        </p:nvSpPr>
        <p:spPr>
          <a:xfrm>
            <a:off x="4754880" y="2377440"/>
            <a:ext cx="32004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00A65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-90%</a:t>
            </a:r>
            <a:endParaRPr lang="en-US" sz="4600" dirty="0"/>
          </a:p>
        </p:txBody>
      </p:sp>
      <p:sp>
        <p:nvSpPr>
          <p:cNvPr id="15" name="Text 13"/>
          <p:cNvSpPr/>
          <p:nvPr/>
        </p:nvSpPr>
        <p:spPr>
          <a:xfrm>
            <a:off x="4754880" y="320040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A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Issues por script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754880" y="356616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Sintaxis y reglas resueltas antes del DBA.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8412480" y="2194560"/>
            <a:ext cx="365760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6E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412480" y="2194560"/>
            <a:ext cx="3657600" cy="109728"/>
          </a:xfrm>
          <a:prstGeom prst="rect">
            <a:avLst/>
          </a:prstGeom>
          <a:solidFill>
            <a:srgbClr val="00A651"/>
          </a:solidFill>
          <a:ln/>
        </p:spPr>
      </p:sp>
      <p:sp>
        <p:nvSpPr>
          <p:cNvPr id="19" name="Text 17"/>
          <p:cNvSpPr/>
          <p:nvPr/>
        </p:nvSpPr>
        <p:spPr>
          <a:xfrm>
            <a:off x="8641080" y="2377440"/>
            <a:ext cx="32004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00A65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-75%</a:t>
            </a:r>
            <a:endParaRPr lang="en-US" sz="4600" dirty="0"/>
          </a:p>
        </p:txBody>
      </p:sp>
      <p:sp>
        <p:nvSpPr>
          <p:cNvPr id="20" name="Text 18"/>
          <p:cNvSpPr/>
          <p:nvPr/>
        </p:nvSpPr>
        <p:spPr>
          <a:xfrm>
            <a:off x="8641080" y="320040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A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Ciclo total del datafix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641080" y="356616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14-40 h a 3.5-7.5 h promedio.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40080" y="4389120"/>
            <a:ext cx="365760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6E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40080" y="4389120"/>
            <a:ext cx="3657600" cy="109728"/>
          </a:xfrm>
          <a:prstGeom prst="rect">
            <a:avLst/>
          </a:prstGeom>
          <a:solidFill>
            <a:srgbClr val="00A651"/>
          </a:solidFill>
          <a:ln/>
        </p:spPr>
      </p:sp>
      <p:sp>
        <p:nvSpPr>
          <p:cNvPr id="24" name="Text 22"/>
          <p:cNvSpPr/>
          <p:nvPr/>
        </p:nvSpPr>
        <p:spPr>
          <a:xfrm>
            <a:off x="868680" y="4572000"/>
            <a:ext cx="32004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00A65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+60%</a:t>
            </a:r>
            <a:endParaRPr lang="en-US" sz="4600" dirty="0"/>
          </a:p>
        </p:txBody>
      </p:sp>
      <p:sp>
        <p:nvSpPr>
          <p:cNvPr id="25" name="Text 23"/>
          <p:cNvSpPr/>
          <p:nvPr/>
        </p:nvSpPr>
        <p:spPr>
          <a:xfrm>
            <a:off x="868680" y="539496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A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Velocidad despliegue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868680" y="576072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Más datafix en la misma capacidad de DBA.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4526280" y="4389120"/>
            <a:ext cx="365760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6E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526280" y="4389120"/>
            <a:ext cx="3657600" cy="109728"/>
          </a:xfrm>
          <a:prstGeom prst="rect">
            <a:avLst/>
          </a:prstGeom>
          <a:solidFill>
            <a:srgbClr val="00A651"/>
          </a:solidFill>
          <a:ln/>
        </p:spPr>
      </p:sp>
      <p:sp>
        <p:nvSpPr>
          <p:cNvPr id="29" name="Text 27"/>
          <p:cNvSpPr/>
          <p:nvPr/>
        </p:nvSpPr>
        <p:spPr>
          <a:xfrm>
            <a:off x="4754880" y="4572000"/>
            <a:ext cx="32004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00A65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100%</a:t>
            </a:r>
            <a:endParaRPr lang="en-US" sz="4600" dirty="0"/>
          </a:p>
        </p:txBody>
      </p:sp>
      <p:sp>
        <p:nvSpPr>
          <p:cNvPr id="30" name="Text 28"/>
          <p:cNvSpPr/>
          <p:nvPr/>
        </p:nvSpPr>
        <p:spPr>
          <a:xfrm>
            <a:off x="4754880" y="539496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A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Trazabilidad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4754880" y="576072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 exportable adjunto al ticket.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8412480" y="4389120"/>
            <a:ext cx="365760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6EB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412480" y="4389120"/>
            <a:ext cx="3657600" cy="109728"/>
          </a:xfrm>
          <a:prstGeom prst="rect">
            <a:avLst/>
          </a:prstGeom>
          <a:solidFill>
            <a:srgbClr val="00A651"/>
          </a:solidFill>
          <a:ln/>
        </p:spPr>
      </p:sp>
      <p:sp>
        <p:nvSpPr>
          <p:cNvPr id="34" name="Text 32"/>
          <p:cNvSpPr/>
          <p:nvPr/>
        </p:nvSpPr>
        <p:spPr>
          <a:xfrm>
            <a:off x="8641080" y="4572000"/>
            <a:ext cx="32004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00A65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24/7</a:t>
            </a:r>
            <a:endParaRPr lang="en-US" sz="4600" dirty="0"/>
          </a:p>
        </p:txBody>
      </p:sp>
      <p:sp>
        <p:nvSpPr>
          <p:cNvPr id="35" name="Text 33"/>
          <p:cNvSpPr/>
          <p:nvPr/>
        </p:nvSpPr>
        <p:spPr>
          <a:xfrm>
            <a:off x="8641080" y="539496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A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Disponibilidad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8641080" y="576072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depender de la hora del DBA.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502920" y="6565392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Datafix Automatico  ·  Propuesta Banco Falabella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1094415" y="6565392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16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92608" cy="6858000"/>
          </a:xfrm>
          <a:prstGeom prst="rect">
            <a:avLst/>
          </a:prstGeom>
          <a:solidFill>
            <a:srgbClr val="00A651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600" dirty="0">
                <a:solidFill>
                  <a:srgbClr val="00A6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DE ROI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530352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2A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Cuanto ahorra Banco Falabella al mes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298448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Supuesto base: 40 datafix/mes · 5 personas/script · costo hora cargado CLP 22.000.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1783080"/>
            <a:ext cx="1280160" cy="0"/>
          </a:xfrm>
          <a:prstGeom prst="line">
            <a:avLst/>
          </a:prstGeom>
          <a:noFill/>
          <a:ln w="31750">
            <a:solidFill>
              <a:srgbClr val="00A65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2194560"/>
            <a:ext cx="3657600" cy="2194560"/>
          </a:xfrm>
          <a:prstGeom prst="rect">
            <a:avLst/>
          </a:prstGeom>
          <a:solidFill>
            <a:srgbClr val="F4F6F8"/>
          </a:solidFill>
          <a:ln w="6350">
            <a:solidFill>
              <a:srgbClr val="E2E6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237744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DATAFIX MENSUALES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68680" y="2697480"/>
            <a:ext cx="3200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00A65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40</a:t>
            </a:r>
            <a:endParaRPr lang="en-US" sz="5400" dirty="0"/>
          </a:p>
        </p:txBody>
      </p:sp>
      <p:sp>
        <p:nvSpPr>
          <p:cNvPr id="10" name="Text 8"/>
          <p:cNvSpPr/>
          <p:nvPr/>
        </p:nvSpPr>
        <p:spPr>
          <a:xfrm>
            <a:off x="868680" y="3703320"/>
            <a:ext cx="3200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Promedio en BF según tickets DBA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526280" y="2194560"/>
            <a:ext cx="3657600" cy="2194560"/>
          </a:xfrm>
          <a:prstGeom prst="rect">
            <a:avLst/>
          </a:prstGeom>
          <a:solidFill>
            <a:srgbClr val="F4F6F8"/>
          </a:solidFill>
          <a:ln w="6350">
            <a:solidFill>
              <a:srgbClr val="E2E6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54880" y="237744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HORAS EQUIPO / SCRIPT HOY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754880" y="2697480"/>
            <a:ext cx="3200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00A65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27 h</a:t>
            </a:r>
            <a:endParaRPr lang="en-US" sz="5400" dirty="0"/>
          </a:p>
        </p:txBody>
      </p:sp>
      <p:sp>
        <p:nvSpPr>
          <p:cNvPr id="14" name="Text 12"/>
          <p:cNvSpPr/>
          <p:nvPr/>
        </p:nvSpPr>
        <p:spPr>
          <a:xfrm>
            <a:off x="4754880" y="3703320"/>
            <a:ext cx="3200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 + DBA + Implementador (promedio)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412480" y="2194560"/>
            <a:ext cx="3657600" cy="2194560"/>
          </a:xfrm>
          <a:prstGeom prst="rect">
            <a:avLst/>
          </a:prstGeom>
          <a:solidFill>
            <a:srgbClr val="F4F6F8"/>
          </a:solidFill>
          <a:ln w="6350">
            <a:solidFill>
              <a:srgbClr val="E2E6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641080" y="237744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HORAS EQUIPO / SCRIPT MYCHECK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641080" y="2697480"/>
            <a:ext cx="3200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00A65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5.5 h</a:t>
            </a:r>
            <a:endParaRPr lang="en-US" sz="5400" dirty="0"/>
          </a:p>
        </p:txBody>
      </p:sp>
      <p:sp>
        <p:nvSpPr>
          <p:cNvPr id="18" name="Text 16"/>
          <p:cNvSpPr/>
          <p:nvPr/>
        </p:nvSpPr>
        <p:spPr>
          <a:xfrm>
            <a:off x="8641080" y="3703320"/>
            <a:ext cx="3200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Mismo equipo · 75% menos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40080" y="4526280"/>
            <a:ext cx="10972800" cy="457200"/>
          </a:xfrm>
          <a:prstGeom prst="rect">
            <a:avLst/>
          </a:prstGeom>
          <a:solidFill>
            <a:srgbClr val="006B33"/>
          </a:solidFill>
          <a:ln/>
        </p:spPr>
      </p:sp>
      <p:sp>
        <p:nvSpPr>
          <p:cNvPr id="20" name="Text 18"/>
          <p:cNvSpPr/>
          <p:nvPr/>
        </p:nvSpPr>
        <p:spPr>
          <a:xfrm>
            <a:off x="777240" y="452628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4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CALCULO MENSUAL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40080" y="4983480"/>
            <a:ext cx="1097280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6E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7240" y="498348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2A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40 datafix  ×  ( 27 h  −  5.5 h )  =  860 horas / mes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40080" y="5623560"/>
            <a:ext cx="5486400" cy="822960"/>
          </a:xfrm>
          <a:prstGeom prst="rect">
            <a:avLst/>
          </a:prstGeom>
          <a:solidFill>
            <a:srgbClr val="00A651"/>
          </a:solidFill>
          <a:ln/>
        </p:spPr>
      </p:sp>
      <p:sp>
        <p:nvSpPr>
          <p:cNvPr id="24" name="Text 22"/>
          <p:cNvSpPr/>
          <p:nvPr/>
        </p:nvSpPr>
        <p:spPr>
          <a:xfrm>
            <a:off x="640080" y="5623560"/>
            <a:ext cx="5486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860 h/mes</a:t>
            </a:r>
            <a:endParaRPr lang="en-US" sz="3200" dirty="0"/>
          </a:p>
        </p:txBody>
      </p:sp>
      <p:sp>
        <p:nvSpPr>
          <p:cNvPr id="25" name="Shape 23"/>
          <p:cNvSpPr/>
          <p:nvPr/>
        </p:nvSpPr>
        <p:spPr>
          <a:xfrm>
            <a:off x="6126480" y="5623560"/>
            <a:ext cx="5486400" cy="822960"/>
          </a:xfrm>
          <a:prstGeom prst="rect">
            <a:avLst/>
          </a:prstGeom>
          <a:solidFill>
            <a:srgbClr val="FDB913"/>
          </a:solidFill>
          <a:ln/>
        </p:spPr>
      </p:sp>
      <p:sp>
        <p:nvSpPr>
          <p:cNvPr id="26" name="Text 24"/>
          <p:cNvSpPr/>
          <p:nvPr/>
        </p:nvSpPr>
        <p:spPr>
          <a:xfrm>
            <a:off x="6126480" y="5623560"/>
            <a:ext cx="5486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F2A3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CLP 18.9 M ahorrados / mes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502920" y="6565392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Datafix Automatico  ·  Propuesta Banco Falabella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1094415" y="6565392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16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92608" cy="6858000"/>
          </a:xfrm>
          <a:prstGeom prst="rect">
            <a:avLst/>
          </a:prstGeom>
          <a:solidFill>
            <a:srgbClr val="00A651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600" dirty="0">
                <a:solidFill>
                  <a:srgbClr val="00A6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CASOS DE USO EN BANCO FALABELLA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530352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2A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Donde MyCheck genera mas valor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298448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Equipos con scripts críticos sobre tablas core.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1783080"/>
            <a:ext cx="1280160" cy="0"/>
          </a:xfrm>
          <a:prstGeom prst="line">
            <a:avLst/>
          </a:prstGeom>
          <a:noFill/>
          <a:ln w="31750">
            <a:solidFill>
              <a:srgbClr val="00A65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2194560"/>
            <a:ext cx="548640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6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2194560"/>
            <a:ext cx="182880" cy="2011680"/>
          </a:xfrm>
          <a:prstGeom prst="rect">
            <a:avLst/>
          </a:prstGeom>
          <a:solidFill>
            <a:srgbClr val="00A651"/>
          </a:solidFill>
          <a:ln/>
        </p:spPr>
      </p:sp>
      <p:sp>
        <p:nvSpPr>
          <p:cNvPr id="9" name="Shape 7"/>
          <p:cNvSpPr/>
          <p:nvPr/>
        </p:nvSpPr>
        <p:spPr>
          <a:xfrm>
            <a:off x="1051560" y="2514600"/>
            <a:ext cx="548640" cy="548640"/>
          </a:xfrm>
          <a:prstGeom prst="ellipse">
            <a:avLst/>
          </a:prstGeom>
          <a:solidFill>
            <a:srgbClr val="D7EFDF"/>
          </a:solidFill>
          <a:ln/>
        </p:spPr>
      </p:sp>
      <p:sp>
        <p:nvSpPr>
          <p:cNvPr id="10" name="Text 8"/>
          <p:cNvSpPr/>
          <p:nvPr/>
        </p:nvSpPr>
        <p:spPr>
          <a:xfrm>
            <a:off x="1051560" y="25146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A65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737360" y="2468880"/>
            <a:ext cx="4206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F2A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Riesgo y Provisiones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1737360" y="2971800"/>
            <a:ext cx="42062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Ajustes masivos sobre cartera. Un UPDATE mal ejecutado afecta provisiones IFRS-9.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355080" y="2194560"/>
            <a:ext cx="548640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6E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355080" y="2194560"/>
            <a:ext cx="182880" cy="2011680"/>
          </a:xfrm>
          <a:prstGeom prst="rect">
            <a:avLst/>
          </a:prstGeom>
          <a:solidFill>
            <a:srgbClr val="00A651"/>
          </a:solidFill>
          <a:ln/>
        </p:spPr>
      </p:sp>
      <p:sp>
        <p:nvSpPr>
          <p:cNvPr id="15" name="Shape 13"/>
          <p:cNvSpPr/>
          <p:nvPr/>
        </p:nvSpPr>
        <p:spPr>
          <a:xfrm>
            <a:off x="6766560" y="2514600"/>
            <a:ext cx="548640" cy="548640"/>
          </a:xfrm>
          <a:prstGeom prst="ellipse">
            <a:avLst/>
          </a:prstGeom>
          <a:solidFill>
            <a:srgbClr val="D7EFDF"/>
          </a:solidFill>
          <a:ln/>
        </p:spPr>
      </p:sp>
      <p:sp>
        <p:nvSpPr>
          <p:cNvPr id="16" name="Text 14"/>
          <p:cNvSpPr/>
          <p:nvPr/>
        </p:nvSpPr>
        <p:spPr>
          <a:xfrm>
            <a:off x="6766560" y="25146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A65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7452360" y="2468880"/>
            <a:ext cx="4206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F2A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Tarjetas de Crédito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7452360" y="2971800"/>
            <a:ext cx="42062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Cierres de ciclo, recálculo de intereses, anulaciones. Ventana de mantención mínima.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40080" y="4434840"/>
            <a:ext cx="548640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6E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0080" y="4434840"/>
            <a:ext cx="182880" cy="2011680"/>
          </a:xfrm>
          <a:prstGeom prst="rect">
            <a:avLst/>
          </a:prstGeom>
          <a:solidFill>
            <a:srgbClr val="00A651"/>
          </a:solidFill>
          <a:ln/>
        </p:spPr>
      </p:sp>
      <p:sp>
        <p:nvSpPr>
          <p:cNvPr id="21" name="Shape 19"/>
          <p:cNvSpPr/>
          <p:nvPr/>
        </p:nvSpPr>
        <p:spPr>
          <a:xfrm>
            <a:off x="1051560" y="4754880"/>
            <a:ext cx="548640" cy="548640"/>
          </a:xfrm>
          <a:prstGeom prst="ellipse">
            <a:avLst/>
          </a:prstGeom>
          <a:solidFill>
            <a:srgbClr val="D7EFDF"/>
          </a:solidFill>
          <a:ln/>
        </p:spPr>
      </p:sp>
      <p:sp>
        <p:nvSpPr>
          <p:cNvPr id="22" name="Text 20"/>
          <p:cNvSpPr/>
          <p:nvPr/>
        </p:nvSpPr>
        <p:spPr>
          <a:xfrm>
            <a:off x="1051560" y="47548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A65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737360" y="4709160"/>
            <a:ext cx="4206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F2A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Cobranza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1737360" y="5212080"/>
            <a:ext cx="42062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Cargas masivas de gestiones, scripts de marcado de morosidad. Alta frecuencia.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355080" y="4434840"/>
            <a:ext cx="548640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6E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355080" y="4434840"/>
            <a:ext cx="182880" cy="2011680"/>
          </a:xfrm>
          <a:prstGeom prst="rect">
            <a:avLst/>
          </a:prstGeom>
          <a:solidFill>
            <a:srgbClr val="00A651"/>
          </a:solidFill>
          <a:ln/>
        </p:spPr>
      </p:sp>
      <p:sp>
        <p:nvSpPr>
          <p:cNvPr id="27" name="Shape 25"/>
          <p:cNvSpPr/>
          <p:nvPr/>
        </p:nvSpPr>
        <p:spPr>
          <a:xfrm>
            <a:off x="6766560" y="4754880"/>
            <a:ext cx="548640" cy="548640"/>
          </a:xfrm>
          <a:prstGeom prst="ellipse">
            <a:avLst/>
          </a:prstGeom>
          <a:solidFill>
            <a:srgbClr val="D7EFDF"/>
          </a:solidFill>
          <a:ln/>
        </p:spPr>
      </p:sp>
      <p:sp>
        <p:nvSpPr>
          <p:cNvPr id="28" name="Text 26"/>
          <p:cNvSpPr/>
          <p:nvPr/>
        </p:nvSpPr>
        <p:spPr>
          <a:xfrm>
            <a:off x="6766560" y="47548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A65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7452360" y="4709160"/>
            <a:ext cx="4206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F2A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Captación / Cuentas</a:t>
            </a:r>
            <a:endParaRPr lang="en-US" sz="1700" dirty="0"/>
          </a:p>
        </p:txBody>
      </p:sp>
      <p:sp>
        <p:nvSpPr>
          <p:cNvPr id="30" name="Text 28"/>
          <p:cNvSpPr/>
          <p:nvPr/>
        </p:nvSpPr>
        <p:spPr>
          <a:xfrm>
            <a:off x="7452360" y="5212080"/>
            <a:ext cx="42062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Rectificaciones de saldos y movimientos. Auditoría exigente.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502920" y="6565392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Datafix Automatico  ·  Propuesta Banco Falabella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1094415" y="6565392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16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92608" cy="6858000"/>
          </a:xfrm>
          <a:prstGeom prst="rect">
            <a:avLst/>
          </a:prstGeom>
          <a:solidFill>
            <a:srgbClr val="00A651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600" dirty="0">
                <a:solidFill>
                  <a:srgbClr val="00A6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530352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2A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 piloto a produccion en 8 semanas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298448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"land &amp; expand" partiendo por un equipo (Riesgo o Tarjetas).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1783080"/>
            <a:ext cx="1280160" cy="0"/>
          </a:xfrm>
          <a:prstGeom prst="line">
            <a:avLst/>
          </a:prstGeom>
          <a:noFill/>
          <a:ln w="31750">
            <a:solidFill>
              <a:srgbClr val="00A65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97280" y="2971800"/>
            <a:ext cx="10607040" cy="0"/>
          </a:xfrm>
          <a:prstGeom prst="line">
            <a:avLst/>
          </a:prstGeom>
          <a:noFill/>
          <a:ln w="31750">
            <a:solidFill>
              <a:srgbClr val="00A65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824228" y="2788920"/>
            <a:ext cx="365760" cy="365760"/>
          </a:xfrm>
          <a:prstGeom prst="ellipse">
            <a:avLst/>
          </a:prstGeom>
          <a:solidFill>
            <a:srgbClr val="00A651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3246120"/>
            <a:ext cx="2697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0A6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1-2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40080" y="3566160"/>
            <a:ext cx="269748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6E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0080" y="3566160"/>
            <a:ext cx="109728" cy="914400"/>
          </a:xfrm>
          <a:prstGeom prst="rect">
            <a:avLst/>
          </a:prstGeom>
          <a:solidFill>
            <a:srgbClr val="00A651"/>
          </a:solidFill>
          <a:ln/>
        </p:spPr>
      </p:sp>
      <p:sp>
        <p:nvSpPr>
          <p:cNvPr id="12" name="Text 10"/>
          <p:cNvSpPr/>
          <p:nvPr/>
        </p:nvSpPr>
        <p:spPr>
          <a:xfrm>
            <a:off x="896112" y="365760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2A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Setup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896112" y="4297680"/>
            <a:ext cx="224028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Despliegue contenedor en DEV. Conexión Oracle XE pruebas. Carga reglas BF.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686300" y="2788920"/>
            <a:ext cx="365760" cy="365760"/>
          </a:xfrm>
          <a:prstGeom prst="ellipse">
            <a:avLst/>
          </a:prstGeom>
          <a:solidFill>
            <a:srgbClr val="00A651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502152" y="3246120"/>
            <a:ext cx="2697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0A6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3-4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3502152" y="3566160"/>
            <a:ext cx="269748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6E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502152" y="3566160"/>
            <a:ext cx="109728" cy="914400"/>
          </a:xfrm>
          <a:prstGeom prst="rect">
            <a:avLst/>
          </a:prstGeom>
          <a:solidFill>
            <a:srgbClr val="00A651"/>
          </a:solidFill>
          <a:ln/>
        </p:spPr>
      </p:sp>
      <p:sp>
        <p:nvSpPr>
          <p:cNvPr id="18" name="Text 16"/>
          <p:cNvSpPr/>
          <p:nvPr/>
        </p:nvSpPr>
        <p:spPr>
          <a:xfrm>
            <a:off x="3758184" y="365760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2A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Piloto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3758184" y="4297680"/>
            <a:ext cx="224028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equipos · 30 scripts reales. Métricas vs proceso actual. Tuning de reglas.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7548372" y="2788920"/>
            <a:ext cx="365760" cy="365760"/>
          </a:xfrm>
          <a:prstGeom prst="ellipse">
            <a:avLst/>
          </a:prstGeom>
          <a:solidFill>
            <a:srgbClr val="00A651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64224" y="3246120"/>
            <a:ext cx="2697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0A6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5-6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364224" y="3566160"/>
            <a:ext cx="269748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6E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364224" y="3566160"/>
            <a:ext cx="109728" cy="914400"/>
          </a:xfrm>
          <a:prstGeom prst="rect">
            <a:avLst/>
          </a:prstGeom>
          <a:solidFill>
            <a:srgbClr val="00A651"/>
          </a:solidFill>
          <a:ln/>
        </p:spPr>
      </p:sp>
      <p:sp>
        <p:nvSpPr>
          <p:cNvPr id="24" name="Text 22"/>
          <p:cNvSpPr/>
          <p:nvPr/>
        </p:nvSpPr>
        <p:spPr>
          <a:xfrm>
            <a:off x="6620256" y="365760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2A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Expansión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6620256" y="4297680"/>
            <a:ext cx="224028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equipos adicionales. SSO con AD BF. Dashboard ejecutivo. Reportes mensuales.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10410444" y="2788920"/>
            <a:ext cx="365760" cy="365760"/>
          </a:xfrm>
          <a:prstGeom prst="ellipse">
            <a:avLst/>
          </a:prstGeom>
          <a:solidFill>
            <a:srgbClr val="00A651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226296" y="3246120"/>
            <a:ext cx="2697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0A6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7-8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9226296" y="3566160"/>
            <a:ext cx="269748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6E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9226296" y="3566160"/>
            <a:ext cx="109728" cy="914400"/>
          </a:xfrm>
          <a:prstGeom prst="rect">
            <a:avLst/>
          </a:prstGeom>
          <a:solidFill>
            <a:srgbClr val="00A651"/>
          </a:solidFill>
          <a:ln/>
        </p:spPr>
      </p:sp>
      <p:sp>
        <p:nvSpPr>
          <p:cNvPr id="30" name="Text 28"/>
          <p:cNvSpPr/>
          <p:nvPr/>
        </p:nvSpPr>
        <p:spPr>
          <a:xfrm>
            <a:off x="9482328" y="365760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2A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Producción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9482328" y="4297680"/>
            <a:ext cx="224028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Despliegue en producción · alta disponibilidad · soporte SLA · capacitación.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502920" y="6565392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Datafix Automatico  ·  Propuesta Banco Falabella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1094415" y="6565392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16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92608" cy="6858000"/>
          </a:xfrm>
          <a:prstGeom prst="rect">
            <a:avLst/>
          </a:prstGeom>
          <a:solidFill>
            <a:srgbClr val="00A651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600" dirty="0">
                <a:solidFill>
                  <a:srgbClr val="00A6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COMERCIAL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530352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2A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Inversion vs ahorro mensual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298448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Suscripción mensual por organización · sin licencia por usuario.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1783080"/>
            <a:ext cx="1280160" cy="0"/>
          </a:xfrm>
          <a:prstGeom prst="line">
            <a:avLst/>
          </a:prstGeom>
          <a:noFill/>
          <a:ln w="31750">
            <a:solidFill>
              <a:srgbClr val="00A65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2194560"/>
            <a:ext cx="5486400" cy="4023360"/>
          </a:xfrm>
          <a:prstGeom prst="rect">
            <a:avLst/>
          </a:prstGeom>
          <a:solidFill>
            <a:srgbClr val="F4F6F8"/>
          </a:solidFill>
          <a:ln w="6350">
            <a:solidFill>
              <a:srgbClr val="E2E6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242316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400" dirty="0">
                <a:solidFill>
                  <a:srgbClr val="4B55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INVERSION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14400" y="2788920"/>
            <a:ext cx="4937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F2A3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CLP </a:t>
            </a:r>
            <a:r>
              <a:rPr lang="en-US" sz="3400" b="1" dirty="0">
                <a:solidFill>
                  <a:srgbClr val="1F2A3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</a:t>
            </a:r>
            <a:r>
              <a:rPr lang="en-US" sz="3400" b="1" dirty="0" smtClean="0">
                <a:solidFill>
                  <a:srgbClr val="1F2A3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.5 </a:t>
            </a:r>
            <a:r>
              <a:rPr lang="en-US" sz="3400" b="1" dirty="0">
                <a:solidFill>
                  <a:srgbClr val="1F2A3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 / mes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914400" y="379476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Suscripción todo-incluido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960120" y="4535424"/>
            <a:ext cx="128016" cy="128016"/>
          </a:xfrm>
          <a:prstGeom prst="ellipse">
            <a:avLst/>
          </a:prstGeom>
          <a:solidFill>
            <a:srgbClr val="00A651"/>
          </a:solidFill>
          <a:ln/>
        </p:spPr>
      </p:sp>
      <p:sp>
        <p:nvSpPr>
          <p:cNvPr id="12" name="Text 10"/>
          <p:cNvSpPr/>
          <p:nvPr/>
        </p:nvSpPr>
        <p:spPr>
          <a:xfrm>
            <a:off x="1188720" y="4480560"/>
            <a:ext cx="4663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Plataforma MyCheck on-prem o </a:t>
            </a:r>
            <a:r>
              <a:rPr lang="en-US" sz="1250" dirty="0" err="1" smtClean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nube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960120" y="4828032"/>
            <a:ext cx="128016" cy="128016"/>
          </a:xfrm>
          <a:prstGeom prst="ellipse">
            <a:avLst/>
          </a:prstGeom>
          <a:solidFill>
            <a:srgbClr val="00A651"/>
          </a:solidFill>
          <a:ln/>
        </p:spPr>
      </p:sp>
      <p:sp>
        <p:nvSpPr>
          <p:cNvPr id="14" name="Text 12"/>
          <p:cNvSpPr/>
          <p:nvPr/>
        </p:nvSpPr>
        <p:spPr>
          <a:xfrm>
            <a:off x="1188720" y="4773168"/>
            <a:ext cx="4663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Hasta 5 equipos · 50 usuarios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960120" y="5120640"/>
            <a:ext cx="128016" cy="128016"/>
          </a:xfrm>
          <a:prstGeom prst="ellipse">
            <a:avLst/>
          </a:prstGeom>
          <a:solidFill>
            <a:srgbClr val="00A651"/>
          </a:solidFill>
          <a:ln/>
        </p:spPr>
      </p:sp>
      <p:sp>
        <p:nvSpPr>
          <p:cNvPr id="16" name="Text 14"/>
          <p:cNvSpPr/>
          <p:nvPr/>
        </p:nvSpPr>
        <p:spPr>
          <a:xfrm>
            <a:off x="1188720" y="5065776"/>
            <a:ext cx="4663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Reglas Oracle BF custom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960120" y="5413248"/>
            <a:ext cx="128016" cy="128016"/>
          </a:xfrm>
          <a:prstGeom prst="ellipse">
            <a:avLst/>
          </a:prstGeom>
          <a:solidFill>
            <a:srgbClr val="00A651"/>
          </a:solidFill>
          <a:ln/>
        </p:spPr>
      </p:sp>
      <p:sp>
        <p:nvSpPr>
          <p:cNvPr id="18" name="Text 16"/>
          <p:cNvSpPr/>
          <p:nvPr/>
        </p:nvSpPr>
        <p:spPr>
          <a:xfrm>
            <a:off x="1188720" y="5358384"/>
            <a:ext cx="4663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SSO con AD · </a:t>
            </a:r>
            <a:r>
              <a:rPr lang="en-US" sz="1250" dirty="0" err="1" smtClean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auditoría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960120" y="5705856"/>
            <a:ext cx="128016" cy="128016"/>
          </a:xfrm>
          <a:prstGeom prst="ellipse">
            <a:avLst/>
          </a:prstGeom>
          <a:solidFill>
            <a:srgbClr val="00A651"/>
          </a:solidFill>
          <a:ln/>
        </p:spPr>
      </p:sp>
      <p:sp>
        <p:nvSpPr>
          <p:cNvPr id="20" name="Text 18"/>
          <p:cNvSpPr/>
          <p:nvPr/>
        </p:nvSpPr>
        <p:spPr>
          <a:xfrm>
            <a:off x="1188720" y="5650992"/>
            <a:ext cx="4663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Soporte 9x5 con SLA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960120" y="5998464"/>
            <a:ext cx="128016" cy="128016"/>
          </a:xfrm>
          <a:prstGeom prst="ellipse">
            <a:avLst/>
          </a:prstGeom>
          <a:solidFill>
            <a:srgbClr val="00A651"/>
          </a:solidFill>
          <a:ln/>
        </p:spPr>
      </p:sp>
      <p:sp>
        <p:nvSpPr>
          <p:cNvPr id="22" name="Text 20"/>
          <p:cNvSpPr/>
          <p:nvPr/>
        </p:nvSpPr>
        <p:spPr>
          <a:xfrm>
            <a:off x="1188720" y="5943600"/>
            <a:ext cx="4663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Capacitación inicial y trimestral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6400800" y="2194560"/>
            <a:ext cx="5150815" cy="4023360"/>
          </a:xfrm>
          <a:prstGeom prst="rect">
            <a:avLst/>
          </a:prstGeom>
          <a:solidFill>
            <a:srgbClr val="00A651"/>
          </a:solidFill>
          <a:ln/>
        </p:spPr>
      </p:sp>
      <p:sp>
        <p:nvSpPr>
          <p:cNvPr id="24" name="Text 22"/>
          <p:cNvSpPr/>
          <p:nvPr/>
        </p:nvSpPr>
        <p:spPr>
          <a:xfrm>
            <a:off x="6675120" y="2423160"/>
            <a:ext cx="46021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400" dirty="0">
                <a:solidFill>
                  <a:srgbClr val="AEEFC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AHORRO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2788920"/>
            <a:ext cx="4602175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CLP 18.9 M / mes</a:t>
            </a:r>
            <a:endParaRPr lang="en-US" sz="3400" dirty="0"/>
          </a:p>
        </p:txBody>
      </p:sp>
      <p:sp>
        <p:nvSpPr>
          <p:cNvPr id="26" name="Text 24"/>
          <p:cNvSpPr/>
          <p:nvPr/>
        </p:nvSpPr>
        <p:spPr>
          <a:xfrm>
            <a:off x="6675120" y="3794760"/>
            <a:ext cx="460217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D4F4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860 h equipo BF + 0 incidentes mayores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6675120" y="4297680"/>
            <a:ext cx="4602175" cy="0"/>
          </a:xfrm>
          <a:prstGeom prst="line">
            <a:avLst/>
          </a:prstGeom>
          <a:noFill/>
          <a:ln w="12700">
            <a:solidFill>
              <a:srgbClr val="AEEFC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675120" y="4434840"/>
            <a:ext cx="460217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AEE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ROI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675120" y="4709160"/>
            <a:ext cx="460217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DB91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r>
              <a:rPr lang="en-US" sz="3200" b="1" dirty="0" smtClean="0">
                <a:solidFill>
                  <a:srgbClr val="FDB91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.2x </a:t>
            </a:r>
            <a:r>
              <a:rPr lang="en-US" sz="3200" b="1" dirty="0">
                <a:solidFill>
                  <a:srgbClr val="FDB91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retorno</a:t>
            </a:r>
            <a:endParaRPr lang="en-US" sz="3200" dirty="0"/>
          </a:p>
        </p:txBody>
      </p:sp>
      <p:sp>
        <p:nvSpPr>
          <p:cNvPr id="30" name="Text 28"/>
          <p:cNvSpPr/>
          <p:nvPr/>
        </p:nvSpPr>
        <p:spPr>
          <a:xfrm>
            <a:off x="6675120" y="5440680"/>
            <a:ext cx="460217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Payback &lt; 7 días por mes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02920" y="6565392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Datafix Automatico  ·  Propuesta Banco Falabella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1094415" y="6565392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16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92608" cy="6858000"/>
          </a:xfrm>
          <a:prstGeom prst="rect">
            <a:avLst/>
          </a:prstGeom>
          <a:solidFill>
            <a:srgbClr val="00A651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600" dirty="0">
                <a:solidFill>
                  <a:srgbClr val="00A6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CIERRE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F2A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Sigamos con un piloto de 30 días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640080" y="1874520"/>
            <a:ext cx="1463040" cy="0"/>
          </a:xfrm>
          <a:prstGeom prst="line">
            <a:avLst/>
          </a:prstGeom>
          <a:noFill/>
          <a:ln w="38100">
            <a:solidFill>
              <a:srgbClr val="FDB91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201168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compromiso, con métricas semanales y reporte ejecutivo.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40080" y="3017520"/>
            <a:ext cx="3657600" cy="2468880"/>
          </a:xfrm>
          <a:prstGeom prst="rect">
            <a:avLst/>
          </a:prstGeom>
          <a:solidFill>
            <a:srgbClr val="F4F6F8"/>
          </a:solidFill>
          <a:ln w="6350">
            <a:solidFill>
              <a:srgbClr val="E2E6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14400" y="3291840"/>
            <a:ext cx="640080" cy="640080"/>
          </a:xfrm>
          <a:prstGeom prst="ellipse">
            <a:avLst/>
          </a:prstGeom>
          <a:solidFill>
            <a:srgbClr val="00A651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32918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737360" y="338328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F2A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Sesión técnica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914400" y="4114800"/>
            <a:ext cx="31089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de 45 min con equipos DBA y Riesgo.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Calibrar reglas Oracle BF.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526280" y="3017520"/>
            <a:ext cx="3657600" cy="2468880"/>
          </a:xfrm>
          <a:prstGeom prst="rect">
            <a:avLst/>
          </a:prstGeom>
          <a:solidFill>
            <a:srgbClr val="F4F6F8"/>
          </a:solidFill>
          <a:ln w="6350">
            <a:solidFill>
              <a:srgbClr val="E2E6E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800600" y="3291840"/>
            <a:ext cx="640080" cy="640080"/>
          </a:xfrm>
          <a:prstGeom prst="ellipse">
            <a:avLst/>
          </a:prstGeom>
          <a:solidFill>
            <a:srgbClr val="00A651"/>
          </a:solidFill>
          <a:ln/>
        </p:spPr>
      </p:sp>
      <p:sp>
        <p:nvSpPr>
          <p:cNvPr id="14" name="Text 12"/>
          <p:cNvSpPr/>
          <p:nvPr/>
        </p:nvSpPr>
        <p:spPr>
          <a:xfrm>
            <a:off x="4800600" y="32918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5623560" y="338328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F2A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Piloto 30 días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4800600" y="4114800"/>
            <a:ext cx="31089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Ambiente DEV, 2 equipos, 30 scripts.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Métricas vs línea base.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8412480" y="3017520"/>
            <a:ext cx="3657600" cy="2468880"/>
          </a:xfrm>
          <a:prstGeom prst="rect">
            <a:avLst/>
          </a:prstGeom>
          <a:solidFill>
            <a:srgbClr val="F4F6F8"/>
          </a:solidFill>
          <a:ln w="6350">
            <a:solidFill>
              <a:srgbClr val="E2E6E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686800" y="3291840"/>
            <a:ext cx="640080" cy="640080"/>
          </a:xfrm>
          <a:prstGeom prst="ellipse">
            <a:avLst/>
          </a:prstGeom>
          <a:solidFill>
            <a:srgbClr val="00A651"/>
          </a:solidFill>
          <a:ln/>
        </p:spPr>
      </p:sp>
      <p:sp>
        <p:nvSpPr>
          <p:cNvPr id="19" name="Text 17"/>
          <p:cNvSpPr/>
          <p:nvPr/>
        </p:nvSpPr>
        <p:spPr>
          <a:xfrm>
            <a:off x="8686800" y="32918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9509760" y="338328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F2A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Decisión y rollout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8686800" y="4114800"/>
            <a:ext cx="31089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Comité ejecutivo con resultados.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/ no-go a producción.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40080" y="5760720"/>
            <a:ext cx="10972800" cy="777240"/>
          </a:xfrm>
          <a:prstGeom prst="rect">
            <a:avLst/>
          </a:prstGeom>
          <a:solidFill>
            <a:srgbClr val="00A651"/>
          </a:solidFill>
          <a:ln/>
        </p:spPr>
      </p:sp>
      <p:sp>
        <p:nvSpPr>
          <p:cNvPr id="23" name="Text 21"/>
          <p:cNvSpPr/>
          <p:nvPr/>
        </p:nvSpPr>
        <p:spPr>
          <a:xfrm>
            <a:off x="777240" y="5760720"/>
            <a:ext cx="6858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¿Programamos el kickoff esta semana?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7589520" y="5760720"/>
            <a:ext cx="3931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contacto@datafix.cl   ·   +56 9 6543 2100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40080" y="6565392"/>
            <a:ext cx="10972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Datafix Automatico  ·  Propuesta Banco Falabella  ·  Mayo 2026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1750</Words>
  <Application>Microsoft Office PowerPoint</Application>
  <PresentationFormat>Panorámica</PresentationFormat>
  <Paragraphs>394</Paragraphs>
  <Slides>16</Slides>
  <Notes>16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16</vt:i4>
      </vt:variant>
    </vt:vector>
  </HeadingPairs>
  <TitlesOfParts>
    <vt:vector size="22" baseType="lpstr">
      <vt:lpstr>Arial</vt:lpstr>
      <vt:lpstr>Arial Black</vt:lpstr>
      <vt:lpstr>Calibri</vt:lpstr>
      <vt:lpstr>Cambria</vt:lpstr>
      <vt:lpstr>Consolas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Datafix Automatico - Banco Falabella</dc:title>
  <dc:subject>PptxGenJS Presentation</dc:subject>
  <dc:creator>Datafix Oracle</dc:creator>
  <cp:lastModifiedBy>Usuario de Windows</cp:lastModifiedBy>
  <cp:revision>4</cp:revision>
  <dcterms:created xsi:type="dcterms:W3CDTF">2026-05-07T15:58:50Z</dcterms:created>
  <dcterms:modified xsi:type="dcterms:W3CDTF">2026-05-07T16:07:23Z</dcterms:modified>
</cp:coreProperties>
</file>