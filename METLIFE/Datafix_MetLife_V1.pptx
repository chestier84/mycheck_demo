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80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74320"/>
            <a:ext cx="914400" cy="914400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411480"/>
            <a:ext cx="640080" cy="640080"/>
          </a:xfrm>
          <a:prstGeom prst="ellipse">
            <a:avLst/>
          </a:prstGeom>
          <a:solidFill>
            <a:srgbClr val="126FB6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365760" cy="365760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Shape 3"/>
          <p:cNvSpPr/>
          <p:nvPr/>
        </p:nvSpPr>
        <p:spPr>
          <a:xfrm>
            <a:off x="8183880" y="457200"/>
            <a:ext cx="164592" cy="164592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kern="0" spc="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PRESENTACIÓN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kern="0" spc="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COMERCIAL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11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</a:t>
            </a:r>
            <a:r>
              <a:rPr lang="en-US" sz="1100" kern="0" spc="600" dirty="0" smtClean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r>
              <a:rPr lang="en-US" sz="1100" kern="0" spc="600" dirty="0" smtClean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kern="0" spc="6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kern="0" spc="600" dirty="0" smtClean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CLIENTE METLIFE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  ·  Mayo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 vamos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cubrir hoy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conversación de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 sobre como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800 horas/mes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equipo DBA.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822960"/>
            <a:ext cx="493776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950976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01.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394960" y="1005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325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manual de scripts Oracle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1783080"/>
            <a:ext cx="493776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911096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02.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5394960" y="1965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2286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MyCheck en 4 capacidades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2743200"/>
            <a:ext cx="493776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871216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03.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5394960" y="2926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AHORRO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246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y modelo de ROI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3703320"/>
            <a:ext cx="493776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3831336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04.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5394960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ROADMAP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4206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en 30 dias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0" y="4663440"/>
            <a:ext cx="493776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9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01.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606040" y="2331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kern="0" spc="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RETO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06040" y="27889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datafix Oracle 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riesgo en producción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3232" y="4160520"/>
            <a:ext cx="164592" cy="164592"/>
          </a:xfrm>
          <a:prstGeom prst="rect">
            <a:avLst/>
          </a:prstGeom>
          <a:solidFill>
            <a:srgbClr val="051C2B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METLIFE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Hoy validar un datafix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depende del DBA de turno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103120"/>
            <a:ext cx="75895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1284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148840" y="226771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CRECIENTE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48840" y="254203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Decenas de scripts/mes entre Pólizas, Comisiones y Reservas. La cola del DBA crece.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971800"/>
            <a:ext cx="75895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8152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02.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148840" y="313639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MANUAL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48840" y="341071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Sintaxis, reglas Oracle y simulación dependen del revisor de turno.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840480"/>
            <a:ext cx="75895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95020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03.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148840" y="400507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DEL ERROR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48840" y="427939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UPDATE sin WHERE en pólizas se convierte en incidente regulatorio.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4709160"/>
            <a:ext cx="75895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HACE HOY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Proceso actual de Datafix Oracle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691640"/>
            <a:ext cx="2468880" cy="50292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1746504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TEAM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96596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el datafix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2194560"/>
            <a:ext cx="2468880" cy="192024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2331720"/>
            <a:ext cx="2066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revisión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con archivos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adjunto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61188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65760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33272" y="38404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2 - 4 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02152" y="1691640"/>
            <a:ext cx="2468880" cy="50292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19" name="Text 17"/>
          <p:cNvSpPr/>
          <p:nvPr/>
        </p:nvSpPr>
        <p:spPr>
          <a:xfrm>
            <a:off x="3666744" y="1746504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BASE DE DATOS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66744" y="196596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el datafix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02152" y="2194560"/>
            <a:ext cx="2468880" cy="192024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2331720"/>
            <a:ext cx="2066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Chequeo manual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por experto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/ asignación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02152" y="361188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365760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66744" y="38404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8 - 24 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35624" y="1691640"/>
            <a:ext cx="2468880" cy="50292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27" name="Text 25"/>
          <p:cNvSpPr/>
          <p:nvPr/>
        </p:nvSpPr>
        <p:spPr>
          <a:xfrm>
            <a:off x="6300216" y="1746504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0216" y="196596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o rollback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35624" y="2194560"/>
            <a:ext cx="2468880" cy="192024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2331720"/>
            <a:ext cx="2066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línea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 DEV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si hay falla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si falla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35624" y="361188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365760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0216" y="38404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4 - 12 h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68680" y="4297680"/>
            <a:ext cx="7680960" cy="411480"/>
          </a:xfrm>
          <a:prstGeom prst="rect">
            <a:avLst/>
          </a:prstGeom>
          <a:solidFill>
            <a:srgbClr val="D9434F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2976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CICLO HOY:  14 - 40 HORAS POR DATAFIX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HARIA CON LA HERRAMIENTA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Proceso agilizado con MyCheck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691640"/>
            <a:ext cx="2468880" cy="50292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1746504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TEAM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96596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+ auto-chequea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2194560"/>
            <a:ext cx="2468880" cy="192024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2331720"/>
            <a:ext cx="2066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script en App MyCheck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Sintaxis, reglas y emulación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adjunto al ticket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61188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65760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33272" y="38404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 min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02152" y="1691640"/>
            <a:ext cx="2468880" cy="50292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19" name="Text 17"/>
          <p:cNvSpPr/>
          <p:nvPr/>
        </p:nvSpPr>
        <p:spPr>
          <a:xfrm>
            <a:off x="3666744" y="1746504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BASE DE DATOS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66744" y="196596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con reporte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02152" y="2194560"/>
            <a:ext cx="2468880" cy="192024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2331720"/>
            <a:ext cx="2066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reporte de Score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enfoca casos con alertas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/ asignación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02152" y="361188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365760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66744" y="38404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2 - 4 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35624" y="1691640"/>
            <a:ext cx="2468880" cy="50292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27" name="Text 25"/>
          <p:cNvSpPr/>
          <p:nvPr/>
        </p:nvSpPr>
        <p:spPr>
          <a:xfrm>
            <a:off x="6300216" y="1746504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0216" y="196596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con confianza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35624" y="2194560"/>
            <a:ext cx="2468880" cy="192024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2331720"/>
            <a:ext cx="2066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ya validado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 DEV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falla 80% menor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por script 90% menor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35624" y="361188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9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3657600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0216" y="38404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1 - 3 h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68680" y="4297680"/>
            <a:ext cx="7680960" cy="411480"/>
          </a:xfrm>
          <a:prstGeom prst="rect">
            <a:avLst/>
          </a:prstGeom>
          <a:solidFill>
            <a:srgbClr val="2BB673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2976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CICLO CON MYCHECK:  3.5 - 7.5 HORAS POR DATAFIX  (-75%)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AHORRO EN UNA SOLA LÁMINA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Comparativo etapa por etapa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600200"/>
            <a:ext cx="7406640" cy="36576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DEL PROCESO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21608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HOY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84648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MYCHECK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39128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1965960"/>
            <a:ext cx="7406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19659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Solicitud y armado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21608" y="19659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2 - 4 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84648" y="19659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39128" y="19659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2295144"/>
            <a:ext cx="7406640" cy="329184"/>
          </a:xfrm>
          <a:prstGeom prst="rect">
            <a:avLst/>
          </a:prstGeom>
          <a:solidFill>
            <a:srgbClr val="EAEAE6"/>
          </a:solidFill>
          <a:ln w="5080">
            <a:solidFill>
              <a:srgbClr val="D6D9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22951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Chequeo de sintaxis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21608" y="229514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1 - 2 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84648" y="22951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39128" y="22951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-99%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2624328"/>
            <a:ext cx="7406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26243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Auditoría de reglas Oracle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21608" y="26243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1 - 3 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84648" y="26243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39128" y="26243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-99%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2953512"/>
            <a:ext cx="7406640" cy="329184"/>
          </a:xfrm>
          <a:prstGeom prst="rect">
            <a:avLst/>
          </a:prstGeom>
          <a:solidFill>
            <a:srgbClr val="EAEAE6"/>
          </a:solidFill>
          <a:ln w="5080">
            <a:solidFill>
              <a:srgbClr val="D6D9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" y="29535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Simulación / DRY RUN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21608" y="29535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2 - 6 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84648" y="295351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2 - 5 min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39128" y="29535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-95%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68680" y="3282696"/>
            <a:ext cx="74066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D6D9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32826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Revisión y aprobación DBA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21608" y="32826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4 - 12 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84648" y="32826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1 - 2 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39128" y="328269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-80%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8680" y="3611880"/>
            <a:ext cx="7406640" cy="329184"/>
          </a:xfrm>
          <a:prstGeom prst="rect">
            <a:avLst/>
          </a:prstGeom>
          <a:solidFill>
            <a:srgbClr val="EAEAE6"/>
          </a:solidFill>
          <a:ln w="5080">
            <a:solidFill>
              <a:srgbClr val="D6D9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8408" y="3611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Ejecución y rollback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21608" y="3611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4 - 12 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84648" y="36118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1 - 3 h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39128" y="36118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68680" y="3941064"/>
            <a:ext cx="7406640" cy="411480"/>
          </a:xfrm>
          <a:prstGeom prst="rect">
            <a:avLst/>
          </a:prstGeom>
          <a:solidFill>
            <a:srgbClr val="129EED"/>
          </a:solidFill>
          <a:ln/>
        </p:spPr>
      </p:sp>
      <p:sp>
        <p:nvSpPr>
          <p:cNvPr id="46" name="Text 44"/>
          <p:cNvSpPr/>
          <p:nvPr/>
        </p:nvSpPr>
        <p:spPr>
          <a:xfrm>
            <a:off x="978408" y="39410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CICLO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721608" y="394106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14 - 40 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84648" y="394106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3.5 - 7.5 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39128" y="394106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-75% PROMEDIO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9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02.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606040" y="2331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kern="0" spc="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HERRAMIENTA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06040" y="27889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MyCheck en 4 capacidades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esenciales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3232" y="4160520"/>
            <a:ext cx="164592" cy="164592"/>
          </a:xfrm>
          <a:prstGeom prst="rect">
            <a:avLst/>
          </a:prstGeom>
          <a:solidFill>
            <a:srgbClr val="051C2B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sola web reemplaza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checklist del DBA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23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codificadas,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y simulación segura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base real.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777240"/>
            <a:ext cx="39319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89611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440680" y="941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DE SINTAXIS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2161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errores antes de pasar al DBA. Resaltado de línea, sugerencias.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26280" y="1737360"/>
            <a:ext cx="39319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85623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440680" y="1901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DE REGLAS ORACLE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21762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reglas críticas: UPDATE/DELETE sin WHERE, TRUNCATE, DROP, GRANT.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26280" y="2697480"/>
            <a:ext cx="39319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81635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440680" y="2862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ESTILO LIQUIBASE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31363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script en sesión real con SAVEPOINT y ROLLBACK automático.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26280" y="3657600"/>
            <a:ext cx="39319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77647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440680" y="3822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SCORE (max 100)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4096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del script: 100 - 25*CRITICO - 10*ALTO - 3*MEDIO. Exportable PDF.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4617720"/>
            <a:ext cx="39319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Validador de sintaxis SQL / PLSQL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600200"/>
            <a:ext cx="7406640" cy="310896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600200"/>
            <a:ext cx="7406640" cy="274320"/>
          </a:xfrm>
          <a:prstGeom prst="rect">
            <a:avLst/>
          </a:prstGeom>
          <a:solidFill>
            <a:srgbClr val="0A2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1691640"/>
            <a:ext cx="91440" cy="91440"/>
          </a:xfrm>
          <a:prstGeom prst="ellipse">
            <a:avLst/>
          </a:prstGeom>
          <a:solidFill>
            <a:srgbClr val="F063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0432" y="1691640"/>
            <a:ext cx="91440" cy="91440"/>
          </a:xfrm>
          <a:prstGeom prst="ellipse">
            <a:avLst/>
          </a:prstGeom>
          <a:solidFill>
            <a:srgbClr val="FBC450"/>
          </a:solidFill>
          <a:ln/>
        </p:spPr>
      </p:sp>
      <p:sp>
        <p:nvSpPr>
          <p:cNvPr id="14" name="Shape 12"/>
          <p:cNvSpPr/>
          <p:nvPr/>
        </p:nvSpPr>
        <p:spPr>
          <a:xfrm>
            <a:off x="1353312" y="1691640"/>
            <a:ext cx="91440" cy="91440"/>
          </a:xfrm>
          <a:prstGeom prst="ellipse">
            <a:avLst/>
          </a:prstGeom>
          <a:solidFill>
            <a:srgbClr val="55C45A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164592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https://datafix.metlife.cl/mycheck   ·   Validador SQL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05840" y="2011680"/>
            <a:ext cx="4592117" cy="2560320"/>
          </a:xfrm>
          <a:prstGeom prst="rect">
            <a:avLst/>
          </a:prstGeom>
          <a:solidFill>
            <a:srgbClr val="0A1623"/>
          </a:solidFill>
          <a:ln w="5080">
            <a:solidFill>
              <a:srgbClr val="1F2A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2011680"/>
            <a:ext cx="292608" cy="2560320"/>
          </a:xfrm>
          <a:prstGeom prst="rect">
            <a:avLst/>
          </a:prstGeom>
          <a:solidFill>
            <a:srgbClr val="0F1E3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066544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" y="231343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5840" y="2560320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5840" y="2807208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3054096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5840" y="3300984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5840" y="354787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3794760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05840" y="4041648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1600" y="2057400"/>
            <a:ext cx="41349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Datafix POLIZAS · ticket DBA-7421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2304288"/>
            <a:ext cx="41349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polizas</a:t>
            </a:r>
            <a:r>
              <a:rPr lang="en-US" sz="90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estado = </a:t>
            </a:r>
            <a:r>
              <a:rPr lang="en-US" sz="90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'INACTIVA'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0" y="2551176"/>
            <a:ext cx="41349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last_pago &lt; </a:t>
            </a:r>
            <a:r>
              <a:rPr lang="en-US" sz="900" dirty="0">
                <a:solidFill>
                  <a:srgbClr val="B98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SYSDATE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90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365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2798064"/>
            <a:ext cx="41349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71600" y="3044952"/>
            <a:ext cx="41349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error de coma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3291840"/>
            <a:ext cx="41349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log_audit  (fecha</a:t>
            </a:r>
            <a:r>
              <a:rPr lang="en-US" sz="900" dirty="0">
                <a:solidFill>
                  <a:srgbClr val="F4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usuario,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accion)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71600" y="3538728"/>
            <a:ext cx="41349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900" dirty="0">
                <a:solidFill>
                  <a:srgbClr val="B98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SYSDATE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'app'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'datafix'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71600" y="3785616"/>
            <a:ext cx="41349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71600" y="4032504"/>
            <a:ext cx="413491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r>
              <a:rPr lang="en-US" sz="90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298448" y="3291840"/>
            <a:ext cx="36576" cy="228600"/>
          </a:xfrm>
          <a:prstGeom prst="rect">
            <a:avLst/>
          </a:prstGeom>
          <a:solidFill>
            <a:srgbClr val="F47373"/>
          </a:solidFill>
          <a:ln/>
        </p:spPr>
      </p:sp>
      <p:sp>
        <p:nvSpPr>
          <p:cNvPr id="37" name="Shape 35"/>
          <p:cNvSpPr/>
          <p:nvPr/>
        </p:nvSpPr>
        <p:spPr>
          <a:xfrm>
            <a:off x="5735117" y="2011680"/>
            <a:ext cx="2265883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735117" y="2011680"/>
            <a:ext cx="2265883" cy="310896"/>
          </a:xfrm>
          <a:prstGeom prst="rect">
            <a:avLst/>
          </a:prstGeom>
          <a:solidFill>
            <a:srgbClr val="129EED"/>
          </a:solidFill>
          <a:ln/>
        </p:spPr>
      </p:sp>
      <p:sp>
        <p:nvSpPr>
          <p:cNvPr id="39" name="Text 37"/>
          <p:cNvSpPr/>
          <p:nvPr/>
        </p:nvSpPr>
        <p:spPr>
          <a:xfrm>
            <a:off x="5899709" y="2011680"/>
            <a:ext cx="193669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72277" y="2468880"/>
            <a:ext cx="1991563" cy="384048"/>
          </a:xfrm>
          <a:prstGeom prst="rect">
            <a:avLst/>
          </a:prstGeom>
          <a:solidFill>
            <a:srgbClr val="FCE5E9"/>
          </a:solidFill>
          <a:ln/>
        </p:spPr>
      </p:sp>
      <p:sp>
        <p:nvSpPr>
          <p:cNvPr id="41" name="Text 39"/>
          <p:cNvSpPr/>
          <p:nvPr/>
        </p:nvSpPr>
        <p:spPr>
          <a:xfrm>
            <a:off x="5963717" y="2487168"/>
            <a:ext cx="180868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SINTAXIS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63717" y="2660904"/>
            <a:ext cx="180868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6 · falta coma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72277" y="2926080"/>
            <a:ext cx="1991563" cy="384048"/>
          </a:xfrm>
          <a:prstGeom prst="rect">
            <a:avLst/>
          </a:prstGeom>
          <a:solidFill>
            <a:srgbClr val="D7EEFB"/>
          </a:solidFill>
          <a:ln/>
        </p:spPr>
      </p:sp>
      <p:sp>
        <p:nvSpPr>
          <p:cNvPr id="44" name="Text 42"/>
          <p:cNvSpPr/>
          <p:nvPr/>
        </p:nvSpPr>
        <p:spPr>
          <a:xfrm>
            <a:off x="5963717" y="2944368"/>
            <a:ext cx="180868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7D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OK · 8 SENTENCIAS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63717" y="3118104"/>
            <a:ext cx="180868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PLSQL v21c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72277" y="3429000"/>
            <a:ext cx="199156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5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 AUTOMÁTICA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72277" y="3639312"/>
            <a:ext cx="199156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B6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log_audit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B6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(fecha, usuario, accion)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72277" y="4206240"/>
            <a:ext cx="19915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 0.42 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Auditor de reglas Oracle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128016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54480"/>
            <a:ext cx="4572000" cy="32004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554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80360" y="1554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5196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" y="1874520"/>
            <a:ext cx="4572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6D9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sin WHERE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80360" y="1920240"/>
            <a:ext cx="1188720" cy="182880"/>
          </a:xfrm>
          <a:prstGeom prst="rect">
            <a:avLst/>
          </a:prstGeom>
          <a:solidFill>
            <a:srgbClr val="FCE5E9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1874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D9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5196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2148840"/>
            <a:ext cx="4572000" cy="274320"/>
          </a:xfrm>
          <a:prstGeom prst="rect">
            <a:avLst/>
          </a:prstGeom>
          <a:solidFill>
            <a:srgbClr val="EAEAE6"/>
          </a:solidFill>
          <a:ln w="3810">
            <a:solidFill>
              <a:srgbClr val="D6D9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sin WHERE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80360" y="2194560"/>
            <a:ext cx="1188720" cy="182880"/>
          </a:xfrm>
          <a:prstGeom prst="rect">
            <a:avLst/>
          </a:prstGeom>
          <a:solidFill>
            <a:srgbClr val="FCE5E9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2148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D9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5196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" y="2423160"/>
            <a:ext cx="4572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6D9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TABLE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80360" y="2468880"/>
            <a:ext cx="1188720" cy="182880"/>
          </a:xfrm>
          <a:prstGeom prst="rect">
            <a:avLst/>
          </a:prstGeom>
          <a:solidFill>
            <a:srgbClr val="FCE5E9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2423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D9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5196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68680" y="2697480"/>
            <a:ext cx="4572000" cy="274320"/>
          </a:xfrm>
          <a:prstGeom prst="rect">
            <a:avLst/>
          </a:prstGeom>
          <a:solidFill>
            <a:srgbClr val="EAEAE6"/>
          </a:solidFill>
          <a:ln w="3810">
            <a:solidFill>
              <a:srgbClr val="D6D9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/ ALTER en core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80360" y="2743200"/>
            <a:ext cx="1188720" cy="182880"/>
          </a:xfrm>
          <a:prstGeom prst="rect">
            <a:avLst/>
          </a:prstGeom>
          <a:solidFill>
            <a:srgbClr val="FCE5E9"/>
          </a:solidFill>
          <a:ln/>
        </p:spPr>
      </p:sp>
      <p:sp>
        <p:nvSpPr>
          <p:cNvPr id="32" name="Text 30"/>
          <p:cNvSpPr/>
          <p:nvPr/>
        </p:nvSpPr>
        <p:spPr>
          <a:xfrm>
            <a:off x="288036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D9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5196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68680" y="2971800"/>
            <a:ext cx="4572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6D9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2971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 usuario directo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80360" y="3017520"/>
            <a:ext cx="1188720" cy="182880"/>
          </a:xfrm>
          <a:prstGeom prst="rect">
            <a:avLst/>
          </a:prstGeom>
          <a:solidFill>
            <a:srgbClr val="FFF1DC"/>
          </a:solidFill>
          <a:ln/>
        </p:spPr>
      </p:sp>
      <p:sp>
        <p:nvSpPr>
          <p:cNvPr id="37" name="Text 35"/>
          <p:cNvSpPr/>
          <p:nvPr/>
        </p:nvSpPr>
        <p:spPr>
          <a:xfrm>
            <a:off x="288036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B4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5196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68680" y="3246120"/>
            <a:ext cx="4572000" cy="274320"/>
          </a:xfrm>
          <a:prstGeom prst="rect">
            <a:avLst/>
          </a:prstGeom>
          <a:solidFill>
            <a:srgbClr val="EAEAE6"/>
          </a:solidFill>
          <a:ln w="3810">
            <a:solidFill>
              <a:srgbClr val="D6D9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COMMIT explícito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80360" y="3291840"/>
            <a:ext cx="1188720" cy="182880"/>
          </a:xfrm>
          <a:prstGeom prst="rect">
            <a:avLst/>
          </a:prstGeom>
          <a:solidFill>
            <a:srgbClr val="FFF1DC"/>
          </a:solidFill>
          <a:ln/>
        </p:spPr>
      </p:sp>
      <p:sp>
        <p:nvSpPr>
          <p:cNvPr id="42" name="Text 40"/>
          <p:cNvSpPr/>
          <p:nvPr/>
        </p:nvSpPr>
        <p:spPr>
          <a:xfrm>
            <a:off x="288036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B4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5196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6D9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3520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&gt; 100k filas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880360" y="3566160"/>
            <a:ext cx="1188720" cy="182880"/>
          </a:xfrm>
          <a:prstGeom prst="rect">
            <a:avLst/>
          </a:prstGeom>
          <a:solidFill>
            <a:srgbClr val="FFF1DC"/>
          </a:solidFill>
          <a:ln/>
        </p:spPr>
      </p:sp>
      <p:sp>
        <p:nvSpPr>
          <p:cNvPr id="47" name="Text 45"/>
          <p:cNvSpPr/>
          <p:nvPr/>
        </p:nvSpPr>
        <p:spPr>
          <a:xfrm>
            <a:off x="2880360" y="3520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B4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25196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68680" y="3794760"/>
            <a:ext cx="4572000" cy="274320"/>
          </a:xfrm>
          <a:prstGeom prst="rect">
            <a:avLst/>
          </a:prstGeom>
          <a:solidFill>
            <a:srgbClr val="EAEAE6"/>
          </a:solidFill>
          <a:ln w="3810">
            <a:solidFill>
              <a:srgbClr val="D6D9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SAVEPOINT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880360" y="3840480"/>
            <a:ext cx="1188720" cy="182880"/>
          </a:xfrm>
          <a:prstGeom prst="rect">
            <a:avLst/>
          </a:prstGeom>
          <a:solidFill>
            <a:srgbClr val="EAEDF1"/>
          </a:solidFill>
          <a:ln/>
        </p:spPr>
      </p:sp>
      <p:sp>
        <p:nvSpPr>
          <p:cNvPr id="52" name="Text 50"/>
          <p:cNvSpPr/>
          <p:nvPr/>
        </p:nvSpPr>
        <p:spPr>
          <a:xfrm>
            <a:off x="2880360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5196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68680" y="4069080"/>
            <a:ext cx="4572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6D9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implícitos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880360" y="4114800"/>
            <a:ext cx="1188720" cy="182880"/>
          </a:xfrm>
          <a:prstGeom prst="rect">
            <a:avLst/>
          </a:prstGeom>
          <a:solidFill>
            <a:srgbClr val="EAEDF1"/>
          </a:solidFill>
          <a:ln/>
        </p:spPr>
      </p:sp>
      <p:sp>
        <p:nvSpPr>
          <p:cNvPr id="57" name="Text 55"/>
          <p:cNvSpPr/>
          <p:nvPr/>
        </p:nvSpPr>
        <p:spPr>
          <a:xfrm>
            <a:off x="288036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5196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623560" y="1554480"/>
            <a:ext cx="2880360" cy="315468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60" name="Shape 58"/>
          <p:cNvSpPr/>
          <p:nvPr/>
        </p:nvSpPr>
        <p:spPr>
          <a:xfrm>
            <a:off x="5623560" y="1554480"/>
            <a:ext cx="2880360" cy="365760"/>
          </a:xfrm>
          <a:prstGeom prst="rect">
            <a:avLst/>
          </a:prstGeom>
          <a:solidFill>
            <a:srgbClr val="D9434F"/>
          </a:solidFill>
          <a:ln/>
        </p:spPr>
      </p:sp>
      <p:sp>
        <p:nvSpPr>
          <p:cNvPr id="61" name="Text 59"/>
          <p:cNvSpPr/>
          <p:nvPr/>
        </p:nvSpPr>
        <p:spPr>
          <a:xfrm>
            <a:off x="5788152" y="155448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CRÍTICO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806440" y="20574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06440" y="22677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 sin cláusula WHERE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806440" y="26517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/ ARCHIVO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06440" y="285292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script_polizas.sql · línea 14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806440" y="3246120"/>
            <a:ext cx="2514600" cy="45720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67" name="Text 65"/>
          <p:cNvSpPr/>
          <p:nvPr/>
        </p:nvSpPr>
        <p:spPr>
          <a:xfrm>
            <a:off x="589788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polizas SET activa=0;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806440" y="38404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ESTIMADO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06440" y="40416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43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1.847.392 pólizas afectadas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806440" y="4251960"/>
            <a:ext cx="2514600" cy="3200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71" name="Text 69"/>
          <p:cNvSpPr/>
          <p:nvPr/>
        </p:nvSpPr>
        <p:spPr>
          <a:xfrm>
            <a:off x="5806440" y="4251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5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 · SCORE -25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DRY RUN  ·  motor de simulación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128016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54480"/>
            <a:ext cx="4937760" cy="315468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554480"/>
            <a:ext cx="4937760" cy="292608"/>
          </a:xfrm>
          <a:prstGeom prst="rect">
            <a:avLst/>
          </a:prstGeom>
          <a:solidFill>
            <a:srgbClr val="0A23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5544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oracle-xe / pdb1   ·   DRY RUN console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3272" y="193852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[10:42:01] Conectando a Oracle XE 21c · pdb1 ...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33272" y="212140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C7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[10:42:01] OK  · Sesión DRY_RUN_42 abierta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33272" y="230428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[10:42:02] SAVEPOINT pre_datafix creado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33272" y="248716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[10:42:02] Ejecutando script_polizas.sql ...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33272" y="267004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33272" y="285292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 UPDATE polizas SET 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33272" y="303580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1,847,392 filas afectadas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33272" y="321868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 INSERT INTO log_audit ...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33272" y="340156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C7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 fila afectada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33272" y="358444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 COMMIT ...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33272" y="376732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33272" y="395020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C7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[10:42:08] ROLLBACK TO pre_datafix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33272" y="413308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[10:42:08] Tiempo total: 5.71 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33272" y="4315968"/>
            <a:ext cx="4608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C7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[10:42:08] Resultado: SIMULACION OK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89320" y="1554480"/>
            <a:ext cx="2514600" cy="315468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1554480"/>
            <a:ext cx="2514600" cy="365760"/>
          </a:xfrm>
          <a:prstGeom prst="rect">
            <a:avLst/>
          </a:prstGeom>
          <a:solidFill>
            <a:srgbClr val="129EED"/>
          </a:solidFill>
          <a:ln/>
        </p:spPr>
      </p:sp>
      <p:sp>
        <p:nvSpPr>
          <p:cNvPr id="29" name="Text 27"/>
          <p:cNvSpPr/>
          <p:nvPr/>
        </p:nvSpPr>
        <p:spPr>
          <a:xfrm>
            <a:off x="6153912" y="1554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DRY RUN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53912" y="2057400"/>
            <a:ext cx="2185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AFECTADAS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53912" y="224028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1.847.393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53912" y="2478024"/>
            <a:ext cx="2185416" cy="0"/>
          </a:xfrm>
          <a:prstGeom prst="line">
            <a:avLst/>
          </a:prstGeom>
          <a:noFill/>
          <a:ln w="5080">
            <a:solidFill>
              <a:srgbClr val="D6D9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2514600"/>
            <a:ext cx="2185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SENTENCIAS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53912" y="269748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53912" y="2935224"/>
            <a:ext cx="2185416" cy="0"/>
          </a:xfrm>
          <a:prstGeom prst="line">
            <a:avLst/>
          </a:prstGeom>
          <a:noFill/>
          <a:ln w="5080">
            <a:solidFill>
              <a:srgbClr val="D6D9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2971800"/>
            <a:ext cx="2185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53912" y="315468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53912" y="3392424"/>
            <a:ext cx="2185416" cy="0"/>
          </a:xfrm>
          <a:prstGeom prst="line">
            <a:avLst/>
          </a:prstGeom>
          <a:noFill/>
          <a:ln w="5080">
            <a:solidFill>
              <a:srgbClr val="D6D9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3912" y="3429000"/>
            <a:ext cx="2185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53912" y="361188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53912" y="3849624"/>
            <a:ext cx="2185416" cy="0"/>
          </a:xfrm>
          <a:prstGeom prst="line">
            <a:avLst/>
          </a:prstGeom>
          <a:noFill/>
          <a:ln w="5080">
            <a:solidFill>
              <a:srgbClr val="D6D9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3912" y="3886200"/>
            <a:ext cx="2185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SIMULACIÓN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53912" y="406908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5.71 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153912" y="4297680"/>
            <a:ext cx="2185416" cy="292608"/>
          </a:xfrm>
          <a:prstGeom prst="rect">
            <a:avLst/>
          </a:prstGeom>
          <a:solidFill>
            <a:srgbClr val="2BB673"/>
          </a:solidFill>
          <a:ln/>
        </p:spPr>
      </p:sp>
      <p:sp>
        <p:nvSpPr>
          <p:cNvPr id="45" name="Text 43"/>
          <p:cNvSpPr/>
          <p:nvPr/>
        </p:nvSpPr>
        <p:spPr>
          <a:xfrm>
            <a:off x="6153912" y="4297680"/>
            <a:ext cx="2185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PRODUCCIÓN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Reporte de Score (max 100)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128016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148840"/>
            <a:ext cx="1920240" cy="1920240"/>
          </a:xfrm>
          <a:prstGeom prst="ellipse">
            <a:avLst/>
          </a:prstGeom>
          <a:solidFill>
            <a:srgbClr val="D7EEFB"/>
          </a:solidFill>
          <a:ln w="63500">
            <a:solidFill>
              <a:srgbClr val="129E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37744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6060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29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371600" y="340156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 100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88720" y="4297680"/>
            <a:ext cx="1828800" cy="292608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297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5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CON OBSERVACIONES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1691640"/>
            <a:ext cx="4206240" cy="384048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6916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100 - 25·CRITICO - 10·ALTO - 3·MEDIO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0" y="2194560"/>
            <a:ext cx="4206240" cy="411480"/>
          </a:xfrm>
          <a:prstGeom prst="rect">
            <a:avLst/>
          </a:prstGeom>
          <a:solidFill>
            <a:srgbClr val="EAEDF1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hallazgos MEDIO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194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implícitos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2194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6B7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2697480"/>
            <a:ext cx="4206240" cy="411480"/>
          </a:xfrm>
          <a:prstGeom prst="rect">
            <a:avLst/>
          </a:prstGeom>
          <a:solidFill>
            <a:srgbClr val="FFF1DC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2697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hallazgos ALTO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697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COMMIT · GRANT directo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2697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453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-20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0" y="3200400"/>
            <a:ext cx="4206240" cy="411480"/>
          </a:xfrm>
          <a:prstGeom prst="rect">
            <a:avLst/>
          </a:prstGeom>
          <a:solidFill>
            <a:srgbClr val="D7EEFB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D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hallazgos CRITICO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2004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bloqueos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3200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7D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97680" y="3794760"/>
            <a:ext cx="4206240" cy="54864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38130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34840" y="3977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hallazgos ALTO antes de programar. Score objetivo ≥ 90 para auto-aprobación.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9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03.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606040" y="2331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kern="0" spc="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AHORRO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06040" y="27889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MetLife gana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tiempo y dinero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3232" y="4160520"/>
            <a:ext cx="164592" cy="164592"/>
          </a:xfrm>
          <a:prstGeom prst="rect">
            <a:avLst/>
          </a:prstGeom>
          <a:solidFill>
            <a:srgbClr val="051C2B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CUANTIFICABLES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se gana en cifras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128016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54480"/>
            <a:ext cx="2468880" cy="0"/>
          </a:xfrm>
          <a:prstGeom prst="line">
            <a:avLst/>
          </a:prstGeom>
          <a:noFill/>
          <a:ln w="15240">
            <a:solidFill>
              <a:srgbClr val="129E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45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-80%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FALLA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487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incidentes que escalan a producción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02152" y="1554480"/>
            <a:ext cx="2468880" cy="0"/>
          </a:xfrm>
          <a:prstGeom prst="line">
            <a:avLst/>
          </a:prstGeom>
          <a:noFill/>
          <a:ln w="15240">
            <a:solidFill>
              <a:srgbClr val="129E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645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-90%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593592" y="2267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POR SCRIPT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93592" y="2487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y reglas resueltas antes del DBA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35624" y="1554480"/>
            <a:ext cx="2468880" cy="0"/>
          </a:xfrm>
          <a:prstGeom prst="line">
            <a:avLst/>
          </a:prstGeom>
          <a:noFill/>
          <a:ln w="15240">
            <a:solidFill>
              <a:srgbClr val="129E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645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-75%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27064" y="2267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TOTAL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27064" y="2487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14-40 h a 3.5-7.5 h promedio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8680" y="3136392"/>
            <a:ext cx="2468880" cy="0"/>
          </a:xfrm>
          <a:prstGeom prst="line">
            <a:avLst/>
          </a:prstGeom>
          <a:noFill/>
          <a:ln w="15240">
            <a:solidFill>
              <a:srgbClr val="129E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227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+60%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60120" y="38496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datafix en la misma capacidad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02152" y="3136392"/>
            <a:ext cx="2468880" cy="0"/>
          </a:xfrm>
          <a:prstGeom prst="line">
            <a:avLst/>
          </a:prstGeom>
          <a:noFill/>
          <a:ln w="15240">
            <a:solidFill>
              <a:srgbClr val="129E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3227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593592" y="38496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93592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exportable adjunto al ticket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35624" y="3136392"/>
            <a:ext cx="2468880" cy="0"/>
          </a:xfrm>
          <a:prstGeom prst="line">
            <a:avLst/>
          </a:prstGeom>
          <a:noFill/>
          <a:ln w="15240">
            <a:solidFill>
              <a:srgbClr val="129E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32278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24/7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227064" y="38496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27064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depender de la hora del DBA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68680" y="4581144"/>
            <a:ext cx="7406640" cy="502920"/>
          </a:xfrm>
          <a:prstGeom prst="rect">
            <a:avLst/>
          </a:prstGeom>
          <a:solidFill>
            <a:srgbClr val="051C2B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58114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datafix × 21.5 h ahorradas = 860 h / mes  ·  CLP 18.9M ahorrados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ROI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Cuánto ahorra MetLife al mes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128016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17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base: 40 datafix/mes · 5 personas/script · costo hora cargado CLP 22.000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246888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MENSUALES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MetLife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02152" y="1828800"/>
            <a:ext cx="246888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/ SCRIPT HOY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93592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27 h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593592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DBA + Implementador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35624" y="1828800"/>
            <a:ext cx="246888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/ SCRIPT MYCHECK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27064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5.5 h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227064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equipo · 75% menos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8680" y="3337560"/>
            <a:ext cx="3657600" cy="1417320"/>
          </a:xfrm>
          <a:prstGeom prst="rect">
            <a:avLst/>
          </a:prstGeom>
          <a:solidFill>
            <a:srgbClr val="EAEAE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5840" y="37490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CLP </a:t>
            </a:r>
            <a:r>
              <a:rPr lang="en-US" sz="2400" b="1" dirty="0" smtClean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7.5 </a:t>
            </a:r>
            <a:r>
              <a:rPr lang="en-US" sz="2400" b="1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 / mes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0584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todo-incluido · 5 equipos · 50 usuarios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337560"/>
            <a:ext cx="3657600" cy="1417320"/>
          </a:xfrm>
          <a:prstGeom prst="rect">
            <a:avLst/>
          </a:prstGeom>
          <a:solidFill>
            <a:srgbClr val="129EED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D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7490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CLP 18.9 M / mes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80060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</a:t>
            </a:r>
            <a:r>
              <a:rPr lang="en-US" sz="1000" b="1" i="1" dirty="0" smtClean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2.2x  </a:t>
            </a:r>
            <a:r>
              <a:rPr lang="en-US" sz="1000" b="1" i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Payback &lt; 7 días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METLIFE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Dónde MyCheck genera más valor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128016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17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con scripts críticos sobre tablas core de la operación de seguros.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37033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737360" y="199339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 DE VIDA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286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masivas, cierres mensuales, ajustes de prima. Ventana de mantención mínima.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1828800"/>
            <a:ext cx="37033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05272" y="199339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 DE BROKERS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05272" y="2286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Recálculos de comisiones, ajustes retroactivos. Auditoría exigente.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3319272"/>
            <a:ext cx="37033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4107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737360" y="348386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TÉCNICAS IFRS-17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377647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contables de reservas. Cualquier UPDATE incorrecto afecta solvencia.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3319272"/>
            <a:ext cx="3703320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4107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605272" y="348386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 Y PAGOS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05272" y="377647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de siniestros, scripts de pagos masivos. Alta frecuencia operativa.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4645152"/>
            <a:ext cx="7571232" cy="0"/>
          </a:xfrm>
          <a:prstGeom prst="line">
            <a:avLst/>
          </a:prstGeom>
          <a:noFill/>
          <a:ln w="9525">
            <a:solidFill>
              <a:srgbClr val="D6D9DD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" cy="292608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" y="347472"/>
            <a:ext cx="146304" cy="146304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393192"/>
            <a:ext cx="54864" cy="54864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-502920" y="220599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METLIFE.COM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5360" y="47320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EL ROADMAP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piloto a producción en 8 semanas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1280160"/>
            <a:ext cx="73152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17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"land &amp; expand" partiendo por un equipo (Pólizas o Comisiones).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2468880"/>
            <a:ext cx="704088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304288"/>
            <a:ext cx="329184" cy="329184"/>
          </a:xfrm>
          <a:prstGeom prst="ellipse">
            <a:avLst/>
          </a:prstGeom>
          <a:solidFill>
            <a:srgbClr val="129E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8488" y="2304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743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SETUP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832" y="3337560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contenedor en DEV. Conexión Oracle XE pruebas. Carga reglas MetLife.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38728" y="2304288"/>
            <a:ext cx="329184" cy="329184"/>
          </a:xfrm>
          <a:prstGeom prst="ellipse">
            <a:avLst/>
          </a:prstGeom>
          <a:solidFill>
            <a:srgbClr val="129E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8728" y="2304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743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3-4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8892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PILOTO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62072" y="3337560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equipos · 30 scripts reales. Métricas vs proceso actual. Tuning de reglas.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58968" y="2304288"/>
            <a:ext cx="329184" cy="329184"/>
          </a:xfrm>
          <a:prstGeom prst="ellipse">
            <a:avLst/>
          </a:prstGeom>
          <a:solidFill>
            <a:srgbClr val="129E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58968" y="2304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2743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5-6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EXPANSIÓN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82312" y="3337560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equipos adicionales. SSO con AD MetLife. Dashboard ejecutivo.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79208" y="2304288"/>
            <a:ext cx="329184" cy="329184"/>
          </a:xfrm>
          <a:prstGeom prst="ellipse">
            <a:avLst/>
          </a:prstGeom>
          <a:solidFill>
            <a:srgbClr val="129E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9208" y="2304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2743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7-8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294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051C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PRODUCCIÓN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02552" y="3337560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producción · alta disponibilidad · soporte SLA · capacitación.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rgbClr val="0E5994"/>
          </a:solidFill>
          <a:ln/>
        </p:spPr>
      </p:sp>
      <p:sp>
        <p:nvSpPr>
          <p:cNvPr id="3" name="Shape 1"/>
          <p:cNvSpPr/>
          <p:nvPr/>
        </p:nvSpPr>
        <p:spPr>
          <a:xfrm>
            <a:off x="4251960" y="777240"/>
            <a:ext cx="640080" cy="640080"/>
          </a:xfrm>
          <a:prstGeom prst="ellipse">
            <a:avLst/>
          </a:prstGeom>
          <a:solidFill>
            <a:srgbClr val="126FB6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914400"/>
            <a:ext cx="365760" cy="365760"/>
          </a:xfrm>
          <a:prstGeom prst="ellipse">
            <a:avLst/>
          </a:prstGeom>
          <a:solidFill>
            <a:srgbClr val="051C2B"/>
          </a:solidFill>
          <a:ln/>
        </p:spPr>
      </p:sp>
      <p:sp>
        <p:nvSpPr>
          <p:cNvPr id="5" name="Shape 3"/>
          <p:cNvSpPr/>
          <p:nvPr/>
        </p:nvSpPr>
        <p:spPr>
          <a:xfrm>
            <a:off x="4617720" y="822960"/>
            <a:ext cx="164592" cy="164592"/>
          </a:xfrm>
          <a:prstGeom prst="ellipse">
            <a:avLst/>
          </a:prstGeom>
          <a:solidFill>
            <a:srgbClr val="129E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129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PIDAMOS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Programemos el piloto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29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 días · sin compromiso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3246120"/>
            <a:ext cx="914400" cy="0"/>
          </a:xfrm>
          <a:prstGeom prst="line">
            <a:avLst/>
          </a:prstGeom>
          <a:noFill/>
          <a:ln w="19050">
            <a:solidFill>
              <a:srgbClr val="129E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520440"/>
            <a:ext cx="2468880" cy="960120"/>
          </a:xfrm>
          <a:prstGeom prst="rect">
            <a:avLst/>
          </a:prstGeom>
          <a:solidFill>
            <a:srgbClr val="0A2A40"/>
          </a:solidFill>
          <a:ln w="6350">
            <a:solidFill>
              <a:srgbClr val="129E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9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TÉCNICA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3977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45 min con DBA + Pólizas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02152" y="3520440"/>
            <a:ext cx="2468880" cy="960120"/>
          </a:xfrm>
          <a:prstGeom prst="rect">
            <a:avLst/>
          </a:prstGeom>
          <a:solidFill>
            <a:srgbClr val="0A2A40"/>
          </a:solidFill>
          <a:ln w="6350">
            <a:solidFill>
              <a:srgbClr val="129E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9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279392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30 DÍAS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79392" y="3977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equipos · 30 scripts · DEV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35624" y="3520440"/>
            <a:ext cx="2468880" cy="960120"/>
          </a:xfrm>
          <a:prstGeom prst="rect">
            <a:avLst/>
          </a:prstGeom>
          <a:solidFill>
            <a:srgbClr val="0A2A40"/>
          </a:solidFill>
          <a:ln w="6350">
            <a:solidFill>
              <a:srgbClr val="129E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9E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12864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EJECUTIVO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12864" y="3977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go / no-go a producción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6863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contacto@datafix.cl  ·  +56 9 6543 2100  ·  metlife.com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1375</Words>
  <Application>Microsoft Office PowerPoint</Application>
  <PresentationFormat>Presentación en pantalla (16:9)</PresentationFormat>
  <Paragraphs>396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Datafix Automatico - MetLife</dc:title>
  <dc:subject>PptxGenJS Presentation</dc:subject>
  <dc:creator>Datafix Oracle</dc:creator>
  <cp:lastModifiedBy>Usuario de Windows</cp:lastModifiedBy>
  <cp:revision>3</cp:revision>
  <dcterms:created xsi:type="dcterms:W3CDTF">2026-05-07T18:38:10Z</dcterms:created>
  <dcterms:modified xsi:type="dcterms:W3CDTF">2026-05-08T02:06:50Z</dcterms:modified>
</cp:coreProperties>
</file>